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1" r:id="rId4"/>
    <p:sldId id="283" r:id="rId5"/>
    <p:sldId id="259" r:id="rId6"/>
    <p:sldId id="258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84" r:id="rId19"/>
    <p:sldId id="274" r:id="rId20"/>
    <p:sldId id="275" r:id="rId21"/>
    <p:sldId id="276" r:id="rId22"/>
    <p:sldId id="285" r:id="rId23"/>
    <p:sldId id="277" r:id="rId24"/>
    <p:sldId id="278" r:id="rId25"/>
    <p:sldId id="279" r:id="rId26"/>
    <p:sldId id="270" r:id="rId27"/>
    <p:sldId id="280" r:id="rId28"/>
    <p:sldId id="282" r:id="rId29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B"/>
    <a:srgbClr val="08090B"/>
    <a:srgbClr val="08090A"/>
    <a:srgbClr val="E36F6F"/>
    <a:srgbClr val="FEF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1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678A6D7-EFDA-4287-8DD5-329E4012C3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Pi docs; Hermes docs; current report v5.1.</a:t>
            </a:r>
          </a:p>
        </p:txBody>
      </p:sp>
      <p:sp>
        <p:nvSpPr>
          <p:cNvPr id="5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4A218C-4CCA-4A14-BC85-E95AC0A9E9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Сформулировано по целям v5.1 и отзывам пользователя/Codex.</a:t>
            </a:r>
          </a:p>
        </p:txBody>
      </p:sp>
      <p:sp>
        <p:nvSpPr>
          <p:cNvPr id="5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5837D-55D4-484A-BDF5-02A7AF9E97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Сформулировано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по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целям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v5.1 и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отзывам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пользователя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/Codex.</a:t>
            </a:r>
          </a:p>
        </p:txBody>
      </p:sp>
      <p:sp>
        <p:nvSpPr>
          <p:cNvPr id="5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15837D-55D4-484A-BDF5-02A7AF9E97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547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Developer Guide: agent-loop; Hermes Goals docs for judge loop later.[Sources] Hermes agent loop: https://hermes-agent.nousresearch.com/docs/developer-guide/agent-loop</a:t>
            </a:r>
          </a:p>
        </p:txBody>
      </p:sp>
      <p:sp>
        <p:nvSpPr>
          <p:cNvPr id="5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BEA74F-63AC-4F46-93A6-1ABF9BC9F1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General architecture framing; Hermes/Pi docs for harness examples.</a:t>
            </a:r>
          </a:p>
        </p:txBody>
      </p:sp>
      <p:sp>
        <p:nvSpPr>
          <p:cNvPr id="5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4867A3-F23E-4CCD-84CF-4F15663A23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Pi docs and coding-agent README; Pi architecture video.[Sources] Pi docs: https://pi.dev/docs/latest ; Pi README: https://github.com/badlogic/pi-mono/blob/main/packages/coding-agent/README.md ; Pi video: https://youtu.be/gTeujlv8qK0</a:t>
            </a:r>
          </a:p>
        </p:txBody>
      </p:sp>
      <p:sp>
        <p:nvSpPr>
          <p:cNvPr id="5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DFDF87-5F6D-43CD-99DC-5D9D7EEEBE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prompt assembly; Pi docs; OpenClaw memory docs.[Sources] Hermes prompt assembly: https://hermes-agent.nousresearch.com/docs/developer-guide/prompt-assembly ; OpenClaw memory: https://docs.openclaw.ai/concepts/memory ; Hermes profiles: https://github.com/NousResearch/hermes-agent/blob/main/website/docs/user-guide/profiles.md</a:t>
            </a:r>
          </a:p>
        </p:txBody>
      </p:sp>
      <p:sp>
        <p:nvSpPr>
          <p:cNvPr id="5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31961-7196-4B11-AC4C-66273EBBC0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Pi session/compaction docs; Hermes session docs.[Sources] Pi compaction: https://pi.dev/docs/latest/compaction ; Hermes sessions docs.</a:t>
            </a:r>
          </a:p>
        </p:txBody>
      </p:sp>
      <p:sp>
        <p:nvSpPr>
          <p:cNvPr id="5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B4C8E-3D58-437A-A1F7-E5CD26B4E8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context-compression-and-caching documentation.[Sources] Hermes context compression and caching: https://github.com/NousResearch/hermes-agent/blob/main/website/docs/developer-guide/context-compression-and-caching.md</a:t>
            </a:r>
          </a:p>
        </p:txBody>
      </p:sp>
      <p:sp>
        <p:nvSpPr>
          <p:cNvPr id="5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D6D5E-8302-42E1-AAA5-A35BCC2C05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profiles, prompt assembly, curator docs; OpenClaw memory docs.[Sources] Hermes profiles: https://github.com/NousResearch/hermes-agent/blob/main/website/docs/user-guide/profiles.md ; Hermes prompt assembly; Hermes Curator: https://hermes-agent.nousresearch.com/docs/user-guide/features/curator ; OpenClaw memory: https://docs.openclaw.ai/concepts/memory</a:t>
            </a:r>
          </a:p>
        </p:txBody>
      </p:sp>
      <p:sp>
        <p:nvSpPr>
          <p:cNvPr id="5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379B9-B244-4164-A564-7742B49703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hooks, cron, prompt assembly/skills docs.[Sources] Hermes Hooks: https://hermes-agent.nousresearch.com/docs/user-guide/features/hooks ; Hermes Cron: https://hermes-agent.nousresearch.com/docs/user-guide/features/cron ; Hermes prompt assembly/skills docs.</a:t>
            </a:r>
          </a:p>
        </p:txBody>
      </p:sp>
      <p:sp>
        <p:nvSpPr>
          <p:cNvPr id="5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2495A2-406D-4D9E-BBC6-7FC746B32A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provider/fallback docs; Hermes agent-loop auxiliary chains.[Sources] Hermes providers/fallback docs; Hermes agent-loop auxiliary chains.</a:t>
            </a:r>
          </a:p>
        </p:txBody>
      </p:sp>
      <p:sp>
        <p:nvSpPr>
          <p:cNvPr id="59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F5AB5-D09D-418A-8121-4DFF380798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Mixture of Agents docs; Sakana Fugu release/FAQ.[Sources] Hermes MoA: https://hermes-agent.nousresearch.com/docs/user-guide/features/mixture-of-agents ; Sakana Fugu: https://sakana.ai/fugu/ ; release: https://sakana.ai/fugu-release/</a:t>
            </a:r>
          </a:p>
        </p:txBody>
      </p:sp>
      <p:sp>
        <p:nvSpPr>
          <p:cNvPr id="59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0F1AC3-5348-4BB4-9409-DC029251B2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delegation docs; Codex subagents docs.[Sources] Hermes delegation: https://hermes-agent.nousresearch.com/docs/user-guide/features/delegation ; Codex subagents docs.</a:t>
            </a:r>
          </a:p>
        </p:txBody>
      </p:sp>
      <p:sp>
        <p:nvSpPr>
          <p:cNvPr id="60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9A4AC-0EC2-4FCC-A546-C0D46DCC82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Claude Code Agent Teams docs; Cline Agent Teams docs.[Sources] Claude Code Agent Teams: https://code.claude.com/docs/en/agent-teams ; Cline Agent Teams: https://docs.cline.bot/cli/agent-teams</a:t>
            </a:r>
          </a:p>
        </p:txBody>
      </p:sp>
      <p:sp>
        <p:nvSpPr>
          <p:cNvPr id="60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16ADC1-3E60-4154-B5AF-04C2B17F10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Kanban docs.[Sources] Hermes Kanban: https://hermes-agent.nousresearch.com/docs/user-guide/features/kanban</a:t>
            </a:r>
          </a:p>
        </p:txBody>
      </p:sp>
      <p:sp>
        <p:nvSpPr>
          <p:cNvPr id="60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824200-50AA-4B77-A9EA-89FDFD3E0B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 Codex sandboxing; Claude Code sandboxing; Hermes config;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OpenClaw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sandbox docs; Devin managed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Devins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.[Sources] Codex sandboxing: https://developers.openai.com/codex/sandboxing ; Claude Code sandboxing: https://code.claude.com/docs/en/sandboxing ; Hermes configuration;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OpenClaw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sandbox tools; Devin advanced capabilities.</a:t>
            </a:r>
          </a:p>
        </p:txBody>
      </p:sp>
      <p:sp>
        <p:nvSpPr>
          <p:cNvPr id="61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00215E-5018-4E75-A450-2B0A442849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checkpoints; Claude/Cline/Roo/Copilot rollback docs.[Sources] Hermes Checkpoints: https://hermes-agent.nousresearch.com/docs/user-guide/checkpoints-and-rollback ; Claude/Cline/Roo/GitHub Copilot rollback docs.</a:t>
            </a:r>
          </a:p>
        </p:txBody>
      </p:sp>
      <p:sp>
        <p:nvSpPr>
          <p:cNvPr id="61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245181-0B77-4729-940D-D4E3B6DCD3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Goals docs: judge model, default turn budget.[Sources] Hermes Goals: https://hermes-agent.nousresearch.com/docs/user-guide/features/goals ; Hermes Kanban goal_mode docs.</a:t>
            </a:r>
          </a:p>
        </p:txBody>
      </p:sp>
      <p:sp>
        <p:nvSpPr>
          <p:cNvPr id="61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B395A4-5C5E-4199-B518-87B0F59FF2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Ouroboros repo/article; Hermes curator/self-evolution project.[Sources] Ouroboros: https://github.com/razzant/ouroboros ; Hermes self-evolution project: https://github.com/NousResearch/hermes-agent-self-evolution ; Hermes Curator docs.</a:t>
            </a:r>
          </a:p>
        </p:txBody>
      </p:sp>
      <p:sp>
        <p:nvSpPr>
          <p:cNvPr id="61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87E6D0-5989-4DDF-A552-C2D7568A05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Synthesis based on deck/report.</a:t>
            </a:r>
          </a:p>
        </p:txBody>
      </p:sp>
      <p:sp>
        <p:nvSpPr>
          <p:cNvPr id="62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A10B39-FAAB-4DBC-BA76-678B308E9C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install/config docs; synthesis.[Sources] Hermes install/config docs: https://hermes-agent.nousresearch.com/docs/user-guide/configuration</a:t>
            </a:r>
          </a:p>
        </p:txBody>
      </p:sp>
      <p:sp>
        <p:nvSpPr>
          <p:cNvPr id="62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362DD-E0D1-433B-9080-5C13C316E6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Hermes Codex App-Server Runtime docs.[Sources] Hermes Codex App-Server Runtime: https://github.com/NousResearch/hermes-agent/blob/main/website/docs/user-guide/features/codex-app-server-runtime.md</a:t>
            </a:r>
          </a:p>
        </p:txBody>
      </p:sp>
      <p:sp>
        <p:nvSpPr>
          <p:cNvPr id="59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AA9C05-8DC3-4557-8564-1F8925EBA7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 Synthesis; outlook based on report and current ecosystem docs.[Sources] Synthesis. Version-sensitive product claims based on public docs as of 2026-08-10.</a:t>
            </a:r>
          </a:p>
        </p:txBody>
      </p:sp>
      <p:sp>
        <p:nvSpPr>
          <p:cNvPr id="62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D96FA8-2532-43BA-8359-14FA889E43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58440" y="9601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harness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85800" y="1691640"/>
            <a:ext cx="90522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из</a:t>
            </a:r>
            <a:r>
              <a:rPr lang="en-US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21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каких</a:t>
            </a:r>
            <a:r>
              <a:rPr lang="en-US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21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модулей</a:t>
            </a:r>
            <a:r>
              <a:rPr lang="en-US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21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состоит</a:t>
            </a:r>
            <a:r>
              <a:rPr lang="en-US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21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агентная</a:t>
            </a:r>
            <a:r>
              <a:rPr lang="en-US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21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среда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100" dirty="0">
                <a:solidFill>
                  <a:srgbClr val="4B5563"/>
                </a:solidFill>
                <a:latin typeface="Arial"/>
              </a:rPr>
              <a:t>что такое </a:t>
            </a:r>
            <a:r>
              <a:rPr lang="en-US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Hermes</a:t>
            </a:r>
            <a:r>
              <a:rPr lang="ru-RU" sz="21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и как он может вам пригодиться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85800" y="2788920"/>
            <a:ext cx="4160520" cy="360"/>
          </a:xfrm>
          <a:prstGeom prst="line">
            <a:avLst/>
          </a:prstGeom>
          <a:ln w="279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31520" y="3794760"/>
            <a:ext cx="127980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04600" y="3849480"/>
            <a:ext cx="11336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LLM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148840" y="4050720"/>
            <a:ext cx="64008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880360" y="3794760"/>
            <a:ext cx="15998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2953440" y="3849480"/>
            <a:ext cx="14536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loop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617720" y="4050720"/>
            <a:ext cx="64008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349240" y="3794760"/>
            <a:ext cx="141696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5422320" y="3849480"/>
            <a:ext cx="1270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harness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903720" y="4050720"/>
            <a:ext cx="64008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635240" y="3794760"/>
            <a:ext cx="196560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708320" y="3849480"/>
            <a:ext cx="18194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orchestration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738360" y="4050720"/>
            <a:ext cx="640080" cy="360"/>
          </a:xfrm>
          <a:prstGeom prst="line">
            <a:avLst/>
          </a:prstGeom>
          <a:ln w="1651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10469880" y="3794760"/>
            <a:ext cx="114264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10542960" y="3849480"/>
            <a:ext cx="9964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Dark factory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85800" y="598932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Pi </a:t>
            </a:r>
            <a:r>
              <a:rPr lang="en-US" sz="14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как</a:t>
            </a:r>
            <a:r>
              <a:rPr lang="en-US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минимальный</a:t>
            </a:r>
            <a:r>
              <a:rPr lang="en-US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ru-RU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рабочий пример</a:t>
            </a:r>
            <a:r>
              <a:rPr lang="en-US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· Hermes </a:t>
            </a:r>
            <a:r>
              <a:rPr lang="en-US" sz="14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как</a:t>
            </a:r>
            <a:r>
              <a:rPr lang="en-US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ru-RU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развитая</a:t>
            </a:r>
            <a:r>
              <a:rPr lang="en-US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среда</a:t>
            </a:r>
            <a:r>
              <a:rPr lang="ru-RU" sz="140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для работы агента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6ABEE2-7EFD-4268-A7F4-5B553BB8D3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285" y="690840"/>
            <a:ext cx="4022208" cy="25138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B7080B-2CAF-41E6-8A4E-69792DFD11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8307" y="233280"/>
            <a:ext cx="3525253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Цели и содержание презентации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566640" y="2432393"/>
            <a:ext cx="5296278" cy="40151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200000"/>
              </a:lnSpc>
              <a:spcAft>
                <a:spcPts val="1200"/>
              </a:spcAft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== Снизить порог входа в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Hermes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 аналоги ==</a:t>
            </a:r>
            <a:endParaRPr lang="en-US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  <a:p>
            <a:pPr marL="342900" indent="-342900" defTabSz="914400">
              <a:lnSpc>
                <a:spcPct val="200000"/>
              </a:lnSpc>
              <a:spcAft>
                <a:spcPts val="1200"/>
              </a:spcAft>
              <a:buAutoNum type="arabicPeriod"/>
            </a:pP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Что такое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harness?</a:t>
            </a:r>
          </a:p>
          <a:p>
            <a:pPr marL="342900" indent="-342900" defTabSz="914400">
              <a:lnSpc>
                <a:spcPct val="200000"/>
              </a:lnSpc>
              <a:spcAft>
                <a:spcPts val="1200"/>
              </a:spcAft>
              <a:buAutoNum type="arabicPeriod"/>
            </a:pP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Из каких компонентов этот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harness 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состоит?</a:t>
            </a:r>
          </a:p>
          <a:p>
            <a:pPr marL="342900" indent="-342900" defTabSz="9144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Особенности компонентов различных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harness-</a:t>
            </a:r>
            <a:r>
              <a:rPr lang="ru-RU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ов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(с фокусом на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Hermes)</a:t>
            </a:r>
            <a:endParaRPr lang="ru-RU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Сценарии применения</a:t>
            </a:r>
            <a:endParaRPr lang="ru-RU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566640" y="1381140"/>
            <a:ext cx="5208872" cy="566164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Intended learning outcomes</a:t>
            </a:r>
          </a:p>
        </p:txBody>
      </p:sp>
      <p:sp>
        <p:nvSpPr>
          <p:cNvPr id="36" name="Shape 9"/>
          <p:cNvSpPr/>
          <p:nvPr/>
        </p:nvSpPr>
        <p:spPr>
          <a:xfrm>
            <a:off x="6096000" y="1381140"/>
            <a:ext cx="5307106" cy="563284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ru-RU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Содержание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3ABF0-EEAD-4A7D-B300-4E5E6BD7FA39}"/>
              </a:ext>
            </a:extLst>
          </p:cNvPr>
          <p:cNvSpPr txBox="1"/>
          <p:nvPr/>
        </p:nvSpPr>
        <p:spPr>
          <a:xfrm>
            <a:off x="6192371" y="2432393"/>
            <a:ext cx="5210735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Знакомство </a:t>
            </a: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Agent loop </a:t>
            </a:r>
            <a:endParaRPr lang="ru-RU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Архитектура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harness </a:t>
            </a:r>
            <a:endParaRPr lang="ru-RU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Контекст и память </a:t>
            </a: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Tools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skills </a:t>
            </a:r>
            <a:endParaRPr lang="ru-RU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Модели и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subagents </a:t>
            </a:r>
            <a:endParaRPr lang="ru-RU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Teams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Kanban </a:t>
            </a:r>
            <a:endParaRPr lang="ru-RU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Изоляция и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recovery </a:t>
            </a:r>
            <a:endParaRPr lang="ru-RU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Hermes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на практике</a:t>
            </a:r>
            <a:endParaRPr lang="ru-RU" sz="1800" dirty="0">
              <a:solidFill>
                <a:srgbClr val="111827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550" b="1" dirty="0">
                <a:solidFill>
                  <a:srgbClr val="111827"/>
                </a:solidFill>
                <a:latin typeface="Arial"/>
              </a:rPr>
              <a:t>Знакомство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566640" y="2432393"/>
            <a:ext cx="5296278" cy="40151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342900" indent="-342900" defTabSz="914400">
              <a:lnSpc>
                <a:spcPct val="200000"/>
              </a:lnSpc>
              <a:spcAft>
                <a:spcPts val="1200"/>
              </a:spcAft>
              <a:buAutoNum type="arabicPeriod"/>
            </a:pP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Data Scientist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из команды </a:t>
            </a:r>
            <a:r>
              <a:rPr lang="ru-RU" dirty="0" err="1">
                <a:solidFill>
                  <a:srgbClr val="111827"/>
                </a:solidFill>
                <a:latin typeface="Arial"/>
                <a:ea typeface="Arial"/>
              </a:rPr>
              <a:t>СберТаргет</a:t>
            </a:r>
            <a:endParaRPr lang="en-US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  <a:p>
            <a:pPr marL="342900" indent="-342900" defTabSz="914400">
              <a:lnSpc>
                <a:spcPct val="200000"/>
              </a:lnSpc>
              <a:spcAft>
                <a:spcPts val="1200"/>
              </a:spcAft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Занимаюсь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ML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на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python 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несколько лет</a:t>
            </a:r>
          </a:p>
          <a:p>
            <a:pPr marL="342900" indent="-342900" defTabSz="914400">
              <a:lnSpc>
                <a:spcPct val="200000"/>
              </a:lnSpc>
              <a:spcAft>
                <a:spcPts val="1200"/>
              </a:spcAft>
              <a:buAutoNum type="arabicPeriod"/>
            </a:pP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Работаю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Codex </a:t>
            </a: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несколько месяцев</a:t>
            </a:r>
          </a:p>
          <a:p>
            <a:pPr marL="342900" indent="-342900" defTabSz="914400">
              <a:lnSpc>
                <a:spcPct val="200000"/>
              </a:lnSpc>
              <a:spcAft>
                <a:spcPts val="1200"/>
              </a:spcAft>
              <a:buAutoNum type="arabicPeriod"/>
            </a:pPr>
            <a:r>
              <a:rPr lang="ru-RU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Начал разбираться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с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Hermes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несколько недель назад</a:t>
            </a:r>
            <a:endParaRPr lang="ru-RU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566640" y="1381140"/>
            <a:ext cx="5208872" cy="566164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ru-RU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Коротко обо мне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6096000" y="1381140"/>
            <a:ext cx="5307106" cy="986092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ru-RU" sz="2400" b="1" dirty="0">
                <a:solidFill>
                  <a:srgbClr val="000000"/>
                </a:solidFill>
                <a:latin typeface="Arial"/>
              </a:rPr>
              <a:t>Как далеко вы продвинулись в </a:t>
            </a:r>
            <a:r>
              <a:rPr lang="ru-RU" sz="2400" b="1" dirty="0" err="1">
                <a:solidFill>
                  <a:srgbClr val="000000"/>
                </a:solidFill>
                <a:latin typeface="Arial"/>
              </a:rPr>
              <a:t>агентной</a:t>
            </a:r>
            <a:r>
              <a:rPr lang="ru-RU" sz="2400" b="1" dirty="0">
                <a:solidFill>
                  <a:srgbClr val="000000"/>
                </a:solidFill>
                <a:latin typeface="Arial"/>
              </a:rPr>
              <a:t> разработке?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3ABF0-EEAD-4A7D-B300-4E5E6BD7FA39}"/>
              </a:ext>
            </a:extLst>
          </p:cNvPr>
          <p:cNvSpPr txBox="1"/>
          <p:nvPr/>
        </p:nvSpPr>
        <p:spPr>
          <a:xfrm>
            <a:off x="6192371" y="2432393"/>
            <a:ext cx="5420149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Задаю вопросы </a:t>
            </a:r>
            <a:r>
              <a:rPr lang="ru-RU" dirty="0" err="1">
                <a:solidFill>
                  <a:srgbClr val="111827"/>
                </a:solidFill>
                <a:latin typeface="Arial"/>
                <a:ea typeface="Arial"/>
              </a:rPr>
              <a:t>ГигаЧату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 (или Алисе)</a:t>
            </a: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Использую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Perplexity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как поисковик</a:t>
            </a:r>
            <a:endParaRPr lang="en-US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en-US" sz="1800" dirty="0" err="1">
                <a:solidFill>
                  <a:srgbClr val="111827"/>
                </a:solidFill>
                <a:latin typeface="Arial"/>
                <a:ea typeface="Arial"/>
              </a:rPr>
              <a:t>ChatGPT</a:t>
            </a:r>
            <a:r>
              <a:rPr lang="en-US" sz="1800" dirty="0">
                <a:solidFill>
                  <a:srgbClr val="111827"/>
                </a:solidFill>
                <a:latin typeface="Arial"/>
                <a:ea typeface="Arial"/>
              </a:rPr>
              <a:t> </a:t>
            </a:r>
            <a:r>
              <a:rPr lang="ru-RU" sz="1800" dirty="0">
                <a:solidFill>
                  <a:srgbClr val="111827"/>
                </a:solidFill>
                <a:latin typeface="Arial"/>
                <a:ea typeface="Arial"/>
              </a:rPr>
              <a:t>правит код / пишет функции</a:t>
            </a:r>
            <a:endParaRPr lang="en-US" sz="1800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sz="1800" dirty="0">
                <a:solidFill>
                  <a:srgbClr val="111827"/>
                </a:solidFill>
                <a:latin typeface="Arial"/>
                <a:ea typeface="Arial"/>
              </a:rPr>
              <a:t>Активно использую </a:t>
            </a:r>
            <a:r>
              <a:rPr lang="en-US" sz="1800" dirty="0">
                <a:solidFill>
                  <a:srgbClr val="111827"/>
                </a:solidFill>
                <a:latin typeface="Arial"/>
                <a:ea typeface="Arial"/>
              </a:rPr>
              <a:t>GitHub Copilot / </a:t>
            </a:r>
            <a:r>
              <a:rPr lang="en-US" sz="1800" dirty="0" err="1">
                <a:solidFill>
                  <a:srgbClr val="111827"/>
                </a:solidFill>
                <a:latin typeface="Arial"/>
                <a:ea typeface="Arial"/>
              </a:rPr>
              <a:t>GigaCode</a:t>
            </a:r>
            <a:endParaRPr lang="en-US" sz="1800" dirty="0">
              <a:solidFill>
                <a:srgbClr val="111827"/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sz="1800" dirty="0">
                <a:solidFill>
                  <a:srgbClr val="111827"/>
                </a:solidFill>
                <a:latin typeface="Arial"/>
                <a:ea typeface="Arial"/>
              </a:rPr>
              <a:t>Регулярно использую </a:t>
            </a:r>
            <a:r>
              <a:rPr lang="en-US" sz="1800" dirty="0">
                <a:solidFill>
                  <a:srgbClr val="111827"/>
                </a:solidFill>
                <a:latin typeface="Arial"/>
                <a:ea typeface="Arial"/>
              </a:rPr>
              <a:t>Claude / Codex</a:t>
            </a: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Использую </a:t>
            </a:r>
            <a:r>
              <a:rPr lang="en-US" dirty="0" err="1">
                <a:solidFill>
                  <a:srgbClr val="111827"/>
                </a:solidFill>
                <a:latin typeface="Arial"/>
                <a:ea typeface="Arial"/>
              </a:rPr>
              <a:t>OpenClaw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 / Hermes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/ Aider</a:t>
            </a:r>
          </a:p>
          <a:p>
            <a:pPr marL="342900" indent="-342900" defTabSz="914400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Запустил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Ouroboros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,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и он обрел сознание</a:t>
            </a:r>
            <a:endParaRPr lang="en-US" dirty="0">
              <a:solidFill>
                <a:srgbClr val="111827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5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DB3411-3D4A-4782-BC72-D1733FB00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60" y="670623"/>
            <a:ext cx="9834880" cy="55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Agent loop и условия остановки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4/25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 dirty="0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Обычный agent loop продолжается, пока модель вызывает tools; завершение — это отсутствие tool calls или внешняя остановка.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1217630" y="2246717"/>
            <a:ext cx="1351429" cy="621360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1217629" y="2301617"/>
            <a:ext cx="1351429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user prompt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363572" y="2612297"/>
            <a:ext cx="1808628" cy="0"/>
          </a:xfrm>
          <a:prstGeom prst="line">
            <a:avLst/>
          </a:prstGeom>
          <a:ln w="1397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6225954" y="2327939"/>
            <a:ext cx="1142640" cy="621360"/>
          </a:xfrm>
          <a:prstGeom prst="roundRect">
            <a:avLst>
              <a:gd name="adj" fmla="val 1176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6299034" y="2382659"/>
            <a:ext cx="99648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LLM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802833" y="3013432"/>
            <a:ext cx="0" cy="699536"/>
          </a:xfrm>
          <a:prstGeom prst="line">
            <a:avLst/>
          </a:prstGeom>
          <a:ln w="1397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5971339" y="3772864"/>
            <a:ext cx="1645560" cy="502560"/>
          </a:xfrm>
          <a:prstGeom prst="flowChartDecision">
            <a:avLst/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6044419" y="3827584"/>
            <a:ext cx="14994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tool call?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 flipH="1" flipV="1">
            <a:off x="5230028" y="4028674"/>
            <a:ext cx="655196" cy="0"/>
          </a:xfrm>
          <a:prstGeom prst="line">
            <a:avLst/>
          </a:prstGeom>
          <a:ln w="13970">
            <a:solidFill>
              <a:schemeClr val="accent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2581388" y="3712968"/>
            <a:ext cx="2594612" cy="62136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2637194" y="3768048"/>
            <a:ext cx="2459414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execute tools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→ observations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 flipH="1" flipV="1">
            <a:off x="3824752" y="2868077"/>
            <a:ext cx="0" cy="780625"/>
          </a:xfrm>
          <a:prstGeom prst="line">
            <a:avLst/>
          </a:prstGeom>
          <a:ln w="13970">
            <a:solidFill>
              <a:srgbClr val="0596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 flipV="1">
            <a:off x="7689979" y="4028674"/>
            <a:ext cx="1225620" cy="0"/>
          </a:xfrm>
          <a:prstGeom prst="line">
            <a:avLst/>
          </a:prstGeom>
          <a:ln w="13970">
            <a:solidFill>
              <a:srgbClr val="7030A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8952139" y="3713284"/>
            <a:ext cx="1554120" cy="62136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3"/>
          <p:cNvSpPr/>
          <p:nvPr/>
        </p:nvSpPr>
        <p:spPr>
          <a:xfrm>
            <a:off x="9025219" y="3779619"/>
            <a:ext cx="14079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final response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731520" y="530352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Остановки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: final response, iteration budget, timeout,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ошибка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/stop,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новое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сообщение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внешний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verifier.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обычном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цикле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отдельного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“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судьи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”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; /goal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добавляет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judge loop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поверх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agent loop.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8B34D3C5-A86D-4E63-B7E1-97B72D326000}"/>
              </a:ext>
            </a:extLst>
          </p:cNvPr>
          <p:cNvSpPr/>
          <p:nvPr/>
        </p:nvSpPr>
        <p:spPr>
          <a:xfrm>
            <a:off x="3346658" y="2387498"/>
            <a:ext cx="946645" cy="409066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083507E-B3FB-46E0-B381-EF8215536499}"/>
              </a:ext>
            </a:extLst>
          </p:cNvPr>
          <p:cNvSpPr/>
          <p:nvPr/>
        </p:nvSpPr>
        <p:spPr>
          <a:xfrm>
            <a:off x="3346657" y="2423641"/>
            <a:ext cx="946645" cy="3367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context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DC923D07-C545-4170-A477-4E1A72930AE4}"/>
              </a:ext>
            </a:extLst>
          </p:cNvPr>
          <p:cNvSpPr/>
          <p:nvPr/>
        </p:nvSpPr>
        <p:spPr>
          <a:xfrm>
            <a:off x="2624865" y="2611757"/>
            <a:ext cx="640080" cy="360"/>
          </a:xfrm>
          <a:prstGeom prst="line">
            <a:avLst/>
          </a:prstGeom>
          <a:ln w="1397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LLM ≠ агент ≠ harness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3/25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Harness — это правила, состояние, tools и среда исполнения вокруг agent loop.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731520" y="2057400"/>
            <a:ext cx="1462680" cy="594000"/>
          </a:xfrm>
          <a:prstGeom prst="roundRect">
            <a:avLst>
              <a:gd name="adj" fmla="val 1230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804600" y="2112120"/>
            <a:ext cx="13165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LLM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2331720" y="2359080"/>
            <a:ext cx="640080" cy="360"/>
          </a:xfrm>
          <a:prstGeom prst="line">
            <a:avLst/>
          </a:prstGeom>
          <a:ln w="1397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3063240" y="2057400"/>
            <a:ext cx="1919880" cy="59400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3136320" y="2112120"/>
            <a:ext cx="17737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loop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5120640" y="2359080"/>
            <a:ext cx="640080" cy="360"/>
          </a:xfrm>
          <a:prstGeom prst="line">
            <a:avLst/>
          </a:prstGeom>
          <a:ln w="1397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5852160" y="2057400"/>
            <a:ext cx="1828440" cy="59400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5925240" y="2112120"/>
            <a:ext cx="168228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harness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777240" y="288036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генерирует ответы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3017520" y="28803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LLM ↔ tools ↔ observations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5623560" y="288036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контекст · память · tools · ограничения · оркестрация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8732520" y="2057400"/>
            <a:ext cx="2148480" cy="59400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8805600" y="2112120"/>
            <a:ext cx="20023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мета-уровень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8"/>
          <p:cNvSpPr/>
          <p:nvPr/>
        </p:nvSpPr>
        <p:spPr>
          <a:xfrm>
            <a:off x="8595360" y="287136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один agent loop может запускать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и координировать другие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777240" y="397764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Harness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формирует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контекст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а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просто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“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передаёт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prompt”.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Harness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задаёт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разрешения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среду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исполнения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условия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продолжения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/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остановки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Развитый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harness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может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управлять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несколькими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вложенными 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agent loop.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07FB7B5-F7F3-4059-93D2-A58A809A4216}"/>
              </a:ext>
            </a:extLst>
          </p:cNvPr>
          <p:cNvGrpSpPr/>
          <p:nvPr/>
        </p:nvGrpSpPr>
        <p:grpSpPr>
          <a:xfrm>
            <a:off x="6022920" y="2811961"/>
            <a:ext cx="4138241" cy="2255048"/>
            <a:chOff x="5919893" y="2704069"/>
            <a:chExt cx="4138241" cy="2255048"/>
          </a:xfrm>
        </p:grpSpPr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85209174-5250-42E6-A565-9D363709D5CE}"/>
                </a:ext>
              </a:extLst>
            </p:cNvPr>
            <p:cNvSpPr/>
            <p:nvPr/>
          </p:nvSpPr>
          <p:spPr>
            <a:xfrm>
              <a:off x="5919893" y="2704069"/>
              <a:ext cx="4138241" cy="22481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CA66271-90F0-4094-AF83-7EA0E9B3960B}"/>
                </a:ext>
              </a:extLst>
            </p:cNvPr>
            <p:cNvSpPr txBox="1"/>
            <p:nvPr/>
          </p:nvSpPr>
          <p:spPr>
            <a:xfrm>
              <a:off x="7798148" y="4589785"/>
              <a:ext cx="2259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оркестрация</a:t>
              </a:r>
              <a:endParaRPr lang="ru-RU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B6E0A23-F809-440B-BED3-59FE9EF8803B}"/>
              </a:ext>
            </a:extLst>
          </p:cNvPr>
          <p:cNvSpPr/>
          <p:nvPr/>
        </p:nvSpPr>
        <p:spPr>
          <a:xfrm>
            <a:off x="6070008" y="2874266"/>
            <a:ext cx="3786755" cy="12482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921C2E-F836-47DA-B327-7295C1C2E252}"/>
              </a:ext>
            </a:extLst>
          </p:cNvPr>
          <p:cNvSpPr txBox="1"/>
          <p:nvPr/>
        </p:nvSpPr>
        <p:spPr>
          <a:xfrm>
            <a:off x="8514555" y="3742250"/>
            <a:ext cx="134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sandbox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50B18E-FA17-4314-98BF-3AC808D3EC60}"/>
              </a:ext>
            </a:extLst>
          </p:cNvPr>
          <p:cNvSpPr/>
          <p:nvPr/>
        </p:nvSpPr>
        <p:spPr>
          <a:xfrm>
            <a:off x="868680" y="2874266"/>
            <a:ext cx="4035213" cy="19496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Pi: minimal harness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5/25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Pi docs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Minimal =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маленькое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обязательное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ядро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, а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не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малое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число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возможностей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868680" y="2116048"/>
            <a:ext cx="21484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941760" y="2170768"/>
            <a:ext cx="20023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обязательное ядро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960120" y="2954377"/>
            <a:ext cx="1234080" cy="319680"/>
          </a:xfrm>
          <a:prstGeom prst="roundRect">
            <a:avLst>
              <a:gd name="adj" fmla="val 34286"/>
            </a:avLst>
          </a:prstGeom>
          <a:solidFill>
            <a:srgbClr val="DBEAFE"/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1005840" y="2991097"/>
            <a:ext cx="1142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context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2331720" y="2954377"/>
            <a:ext cx="1416960" cy="319680"/>
          </a:xfrm>
          <a:prstGeom prst="roundRect">
            <a:avLst>
              <a:gd name="adj" fmla="val 34286"/>
            </a:avLst>
          </a:prstGeom>
          <a:solidFill>
            <a:srgbClr val="DBEAFE"/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2377440" y="2991097"/>
            <a:ext cx="1325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agent loop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3886200" y="2954377"/>
            <a:ext cx="914040" cy="319680"/>
          </a:xfrm>
          <a:prstGeom prst="roundRect">
            <a:avLst>
              <a:gd name="adj" fmla="val 34286"/>
            </a:avLst>
          </a:prstGeom>
          <a:solidFill>
            <a:srgbClr val="DBEAFE"/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3931920" y="2991097"/>
            <a:ext cx="8226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2563EB"/>
                </a:solidFill>
                <a:effectLst/>
                <a:uFillTx/>
                <a:latin typeface="Arial"/>
              </a:rPr>
              <a:t>tools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1321971" y="3327674"/>
            <a:ext cx="872229" cy="280726"/>
          </a:xfrm>
          <a:prstGeom prst="roundRect">
            <a:avLst>
              <a:gd name="adj" fmla="val 34286"/>
            </a:avLst>
          </a:prstGeom>
          <a:solidFill>
            <a:srgbClr val="DBEAFE"/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1361497" y="3359761"/>
            <a:ext cx="802429" cy="2165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2563EB"/>
                </a:solidFill>
                <a:effectLst/>
                <a:uFillTx/>
                <a:latin typeface="Arial"/>
              </a:rPr>
              <a:t>session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1195409" y="3629838"/>
            <a:ext cx="998791" cy="280726"/>
          </a:xfrm>
          <a:prstGeom prst="roundRect">
            <a:avLst>
              <a:gd name="adj" fmla="val 34286"/>
            </a:avLst>
          </a:prstGeom>
          <a:solidFill>
            <a:srgbClr val="DBEAFE"/>
          </a:solidFill>
          <a:ln w="76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1225682" y="3661925"/>
            <a:ext cx="938244" cy="2165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2563EB"/>
                </a:solidFill>
                <a:effectLst/>
                <a:uFillTx/>
                <a:latin typeface="Arial"/>
              </a:rPr>
              <a:t>compaction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6022920" y="2116048"/>
            <a:ext cx="214848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6096000" y="2170768"/>
            <a:ext cx="20023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поверх ядра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6161448" y="2959577"/>
            <a:ext cx="1234080" cy="319680"/>
          </a:xfrm>
          <a:prstGeom prst="roundRect">
            <a:avLst>
              <a:gd name="adj" fmla="val 34286"/>
            </a:avLst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6207168" y="2996297"/>
            <a:ext cx="1142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dirty="0">
                <a:solidFill>
                  <a:srgbClr val="7C3AED"/>
                </a:solidFill>
                <a:latin typeface="Arial"/>
              </a:rPr>
              <a:t>memory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7533048" y="2959577"/>
            <a:ext cx="1371240" cy="319680"/>
          </a:xfrm>
          <a:prstGeom prst="roundRect">
            <a:avLst>
              <a:gd name="adj" fmla="val 34286"/>
            </a:avLst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7578768" y="2996297"/>
            <a:ext cx="12798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7C3AED"/>
                </a:solidFill>
                <a:effectLst/>
                <a:uFillTx/>
                <a:latin typeface="Arial"/>
              </a:rPr>
              <a:t>checkpoints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9041808" y="2959577"/>
            <a:ext cx="731160" cy="319680"/>
          </a:xfrm>
          <a:prstGeom prst="roundRect">
            <a:avLst>
              <a:gd name="adj" fmla="val 34286"/>
            </a:avLst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9087528" y="2996297"/>
            <a:ext cx="639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7C3AED"/>
                </a:solidFill>
                <a:effectLst/>
                <a:uFillTx/>
                <a:latin typeface="Arial"/>
              </a:rPr>
              <a:t>MCP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858108" y="5336787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Pi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выносит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необязательные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правила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интеграции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в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расширения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“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subagents”, а “subagents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обязаны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быть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частью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core”.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8CA739F6-6A1D-4768-B8EF-FBC9473AD623}"/>
              </a:ext>
            </a:extLst>
          </p:cNvPr>
          <p:cNvSpPr/>
          <p:nvPr/>
        </p:nvSpPr>
        <p:spPr>
          <a:xfrm>
            <a:off x="4077546" y="3342764"/>
            <a:ext cx="722693" cy="233548"/>
          </a:xfrm>
          <a:prstGeom prst="roundRect">
            <a:avLst>
              <a:gd name="adj" fmla="val 34286"/>
            </a:avLst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D3A1F1E-8CA2-40C7-AE11-7A765ECC48CB}"/>
              </a:ext>
            </a:extLst>
          </p:cNvPr>
          <p:cNvSpPr/>
          <p:nvPr/>
        </p:nvSpPr>
        <p:spPr>
          <a:xfrm>
            <a:off x="4138507" y="3359761"/>
            <a:ext cx="616013" cy="1801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2563EB"/>
                </a:solidFill>
                <a:effectLst/>
                <a:uFillTx/>
                <a:latin typeface="Arial"/>
              </a:rPr>
              <a:t>bash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B588FFE4-8E48-475E-954D-6AF6E7A35C22}"/>
              </a:ext>
            </a:extLst>
          </p:cNvPr>
          <p:cNvSpPr/>
          <p:nvPr/>
        </p:nvSpPr>
        <p:spPr>
          <a:xfrm>
            <a:off x="4077546" y="3615541"/>
            <a:ext cx="722693" cy="233548"/>
          </a:xfrm>
          <a:prstGeom prst="roundRect">
            <a:avLst>
              <a:gd name="adj" fmla="val 34286"/>
            </a:avLst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62484670-010B-4F38-A9CF-1F52CF6A43E5}"/>
              </a:ext>
            </a:extLst>
          </p:cNvPr>
          <p:cNvSpPr/>
          <p:nvPr/>
        </p:nvSpPr>
        <p:spPr>
          <a:xfrm>
            <a:off x="4138507" y="3632538"/>
            <a:ext cx="616013" cy="1801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2563EB"/>
                </a:solidFill>
                <a:effectLst/>
                <a:uFillTx/>
                <a:latin typeface="Arial"/>
              </a:rPr>
              <a:t>read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488BC532-E580-4A86-8404-770B40C04B73}"/>
              </a:ext>
            </a:extLst>
          </p:cNvPr>
          <p:cNvSpPr/>
          <p:nvPr/>
        </p:nvSpPr>
        <p:spPr>
          <a:xfrm>
            <a:off x="4077546" y="3883800"/>
            <a:ext cx="722693" cy="233548"/>
          </a:xfrm>
          <a:prstGeom prst="roundRect">
            <a:avLst>
              <a:gd name="adj" fmla="val 34286"/>
            </a:avLst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chemeClr val="accent5">
                <a:lumMod val="60000"/>
                <a:lumOff val="4000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705BE6FD-364D-40A5-8BCD-668B228D70EC}"/>
              </a:ext>
            </a:extLst>
          </p:cNvPr>
          <p:cNvSpPr/>
          <p:nvPr/>
        </p:nvSpPr>
        <p:spPr>
          <a:xfrm>
            <a:off x="4138507" y="3900797"/>
            <a:ext cx="616013" cy="1801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2563EB"/>
                </a:solidFill>
                <a:effectLst/>
                <a:uFillTx/>
                <a:latin typeface="Arial"/>
              </a:rPr>
              <a:t>write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8736BA2E-A741-4CB3-A7D0-4DFAAD509D61}"/>
              </a:ext>
            </a:extLst>
          </p:cNvPr>
          <p:cNvSpPr/>
          <p:nvPr/>
        </p:nvSpPr>
        <p:spPr>
          <a:xfrm>
            <a:off x="6161448" y="3355529"/>
            <a:ext cx="1234080" cy="319680"/>
          </a:xfrm>
          <a:prstGeom prst="roundRect">
            <a:avLst>
              <a:gd name="adj" fmla="val 34286"/>
            </a:avLst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CE7F3EAB-3577-4282-B760-4FD28F4DA2C5}"/>
              </a:ext>
            </a:extLst>
          </p:cNvPr>
          <p:cNvSpPr/>
          <p:nvPr/>
        </p:nvSpPr>
        <p:spPr>
          <a:xfrm>
            <a:off x="6207168" y="3392249"/>
            <a:ext cx="1142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dirty="0">
                <a:solidFill>
                  <a:srgbClr val="7C3AED"/>
                </a:solidFill>
                <a:latin typeface="Arial"/>
              </a:rPr>
              <a:t>skills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>
            <a:extLst>
              <a:ext uri="{FF2B5EF4-FFF2-40B4-BE49-F238E27FC236}">
                <a16:creationId xmlns:a16="http://schemas.microsoft.com/office/drawing/2014/main" id="{42CE609A-4F16-4A1D-A333-9916E28FF895}"/>
              </a:ext>
            </a:extLst>
          </p:cNvPr>
          <p:cNvSpPr/>
          <p:nvPr/>
        </p:nvSpPr>
        <p:spPr>
          <a:xfrm>
            <a:off x="10455000" y="2952112"/>
            <a:ext cx="731160" cy="319680"/>
          </a:xfrm>
          <a:prstGeom prst="roundRect">
            <a:avLst>
              <a:gd name="adj" fmla="val 34286"/>
            </a:avLst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3AD7056A-9C64-4891-BCB0-0D455FEA4A5B}"/>
              </a:ext>
            </a:extLst>
          </p:cNvPr>
          <p:cNvSpPr/>
          <p:nvPr/>
        </p:nvSpPr>
        <p:spPr>
          <a:xfrm>
            <a:off x="10500720" y="2988832"/>
            <a:ext cx="639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7C3AED"/>
                </a:solidFill>
                <a:effectLst/>
                <a:uFillTx/>
                <a:latin typeface="Arial"/>
              </a:rPr>
              <a:t>GUI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F59477D7-EC19-4F11-9F04-F020E7574A01}"/>
              </a:ext>
            </a:extLst>
          </p:cNvPr>
          <p:cNvSpPr/>
          <p:nvPr/>
        </p:nvSpPr>
        <p:spPr>
          <a:xfrm>
            <a:off x="10455000" y="3342245"/>
            <a:ext cx="731160" cy="319680"/>
          </a:xfrm>
          <a:prstGeom prst="roundRect">
            <a:avLst>
              <a:gd name="adj" fmla="val 34286"/>
            </a:avLst>
          </a:prstGeom>
          <a:solidFill>
            <a:srgbClr val="EDE9FE"/>
          </a:solidFill>
          <a:ln w="762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17072EAA-9FF9-4AF8-9E8A-4A9A5AD2DBC3}"/>
              </a:ext>
            </a:extLst>
          </p:cNvPr>
          <p:cNvSpPr/>
          <p:nvPr/>
        </p:nvSpPr>
        <p:spPr>
          <a:xfrm>
            <a:off x="10500720" y="3378965"/>
            <a:ext cx="639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dirty="0">
                <a:solidFill>
                  <a:srgbClr val="7C3AED"/>
                </a:solidFill>
                <a:effectLst/>
                <a:uFillTx/>
                <a:latin typeface="Arial"/>
              </a:rPr>
              <a:t>gateway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CF1934-7C65-47D5-8183-7C219F2841FF}"/>
              </a:ext>
            </a:extLst>
          </p:cNvPr>
          <p:cNvSpPr txBox="1"/>
          <p:nvPr/>
        </p:nvSpPr>
        <p:spPr>
          <a:xfrm>
            <a:off x="3736205" y="4455324"/>
            <a:ext cx="116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sandbox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57875F5-29AA-4AF2-8999-8E80091DA661}"/>
              </a:ext>
            </a:extLst>
          </p:cNvPr>
          <p:cNvSpPr/>
          <p:nvPr/>
        </p:nvSpPr>
        <p:spPr>
          <a:xfrm>
            <a:off x="6079010" y="4186230"/>
            <a:ext cx="3777753" cy="3884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4F4FC-C885-4354-B588-CD21E771DFD9}"/>
              </a:ext>
            </a:extLst>
          </p:cNvPr>
          <p:cNvSpPr txBox="1"/>
          <p:nvPr/>
        </p:nvSpPr>
        <p:spPr>
          <a:xfrm>
            <a:off x="8523558" y="4196775"/>
            <a:ext cx="1333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sandbox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D8568-842A-45C5-9AF6-BE36B46909B1}"/>
              </a:ext>
            </a:extLst>
          </p:cNvPr>
          <p:cNvSpPr txBox="1"/>
          <p:nvPr/>
        </p:nvSpPr>
        <p:spPr>
          <a:xfrm>
            <a:off x="6079009" y="4196177"/>
            <a:ext cx="257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второй </a:t>
            </a:r>
            <a:r>
              <a:rPr lang="en-US" dirty="0"/>
              <a:t>subagent</a:t>
            </a:r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916763-4EB2-4C12-B97A-6F6209B84C23}"/>
              </a:ext>
            </a:extLst>
          </p:cNvPr>
          <p:cNvSpPr txBox="1"/>
          <p:nvPr/>
        </p:nvSpPr>
        <p:spPr>
          <a:xfrm>
            <a:off x="6070008" y="3749174"/>
            <a:ext cx="2574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один </a:t>
            </a:r>
            <a:r>
              <a:rPr lang="en-US" dirty="0"/>
              <a:t>subagent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Context builder: что видит модель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8/25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Context — это не вся история, а рабочая сборка из инструкций, памяти, skills, tool results и свежего запроса.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834813" y="2144340"/>
            <a:ext cx="1737000" cy="411120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907893" y="2199060"/>
            <a:ext cx="1590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system </a:t>
            </a:r>
            <a:r>
              <a:rPr lang="en-US" sz="122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promt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834813" y="2647260"/>
            <a:ext cx="1737000" cy="411120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907893" y="2701980"/>
            <a:ext cx="1590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AGENTS.md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834813" y="3150180"/>
            <a:ext cx="1737000" cy="411120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907893" y="3204900"/>
            <a:ext cx="1590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dirty="0">
                <a:solidFill>
                  <a:srgbClr val="111827"/>
                </a:solidFill>
                <a:latin typeface="Arial"/>
              </a:rPr>
              <a:t>r</a:t>
            </a: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ecent messages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834813" y="3653100"/>
            <a:ext cx="1737000" cy="411120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907893" y="3707820"/>
            <a:ext cx="1590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memory / user prefs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834813" y="4156020"/>
            <a:ext cx="1737000" cy="411120"/>
          </a:xfrm>
          <a:prstGeom prst="roundRect">
            <a:avLst>
              <a:gd name="adj" fmla="val 1777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907893" y="4210740"/>
            <a:ext cx="1590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skills, tools index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2709333" y="3150180"/>
            <a:ext cx="1280160" cy="36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4080933" y="2811780"/>
            <a:ext cx="1919880" cy="68544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4154013" y="2866860"/>
            <a:ext cx="1773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context builder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6138333" y="3150180"/>
            <a:ext cx="1280160" cy="360"/>
          </a:xfrm>
          <a:prstGeom prst="line">
            <a:avLst/>
          </a:prstGeom>
          <a:ln w="1524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7509933" y="2811780"/>
            <a:ext cx="1554120" cy="68544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7583013" y="2866860"/>
            <a:ext cx="14079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LLM input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777240" y="4892039"/>
            <a:ext cx="10698120" cy="14410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7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Размер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контекстного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окна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задаёт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модель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;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содержимое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выбирает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harness.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7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OpenClaw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предлагает альтернативный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подход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: Markdown-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память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+ semantic index.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7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добавляет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profiles: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отдельные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SOUL/MEMORY/USER/skills/sessions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для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разных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ролей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Session ≠ active context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9/25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566640" y="1113509"/>
            <a:ext cx="11018160" cy="15829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200000"/>
              </a:lnSpc>
              <a:tabLst>
                <a:tab pos="0" algn="l"/>
              </a:tabLst>
            </a:pP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Сессия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—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журнал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ru-RU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вводов пользователя, ответов модели, результатов вызова 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tools. </a:t>
            </a:r>
            <a:endParaRPr lang="ru-RU" sz="1900" b="1" u="none" strike="noStrike" dirty="0">
              <a:solidFill>
                <a:srgbClr val="111827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2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Active context — </a:t>
            </a:r>
            <a:r>
              <a:rPr lang="ru-RU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часть сессии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,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которую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модель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видит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в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текущем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вызове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1658174" y="3395313"/>
            <a:ext cx="2057040" cy="685440"/>
          </a:xfrm>
          <a:prstGeom prst="roundRect">
            <a:avLst>
              <a:gd name="adj" fmla="val 10667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1731254" y="3450033"/>
            <a:ext cx="19108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session history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полная траектория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3852734" y="3742713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4584254" y="3395313"/>
            <a:ext cx="1919880" cy="68544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4657334" y="3450033"/>
            <a:ext cx="17737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selection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+ compaction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6641654" y="3742713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7373174" y="3395313"/>
            <a:ext cx="2148480" cy="68544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7446254" y="3450033"/>
            <a:ext cx="20023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active context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сейчас видит LLM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compaction: что происходит с историей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10/25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Hermes docs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567000" y="1234440"/>
            <a:ext cx="11018160" cy="85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Сжатие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контекста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—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не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“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забывание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всего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”: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сохраня</a:t>
            </a:r>
            <a:r>
              <a:rPr lang="ru-RU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ются</a:t>
            </a:r>
            <a:r>
              <a:rPr lang="ru-RU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недавние сообщения, более давние </a:t>
            </a:r>
            <a:r>
              <a:rPr lang="ru-RU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компактируются</a:t>
            </a:r>
            <a:r>
              <a:rPr lang="ru-RU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, совсем старые отбрасываются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1229940" y="2757960"/>
            <a:ext cx="1462680" cy="5482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7"/>
          <p:cNvSpPr/>
          <p:nvPr/>
        </p:nvSpPr>
        <p:spPr>
          <a:xfrm>
            <a:off x="1303020" y="2812680"/>
            <a:ext cx="13165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первые 3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messages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8"/>
          <p:cNvSpPr/>
          <p:nvPr/>
        </p:nvSpPr>
        <p:spPr>
          <a:xfrm>
            <a:off x="2967300" y="2757960"/>
            <a:ext cx="1828440" cy="5482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3040380" y="2812680"/>
            <a:ext cx="16822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середина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→ summary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0"/>
          <p:cNvSpPr/>
          <p:nvPr/>
        </p:nvSpPr>
        <p:spPr>
          <a:xfrm rot="1029029">
            <a:off x="5203401" y="3315920"/>
            <a:ext cx="2011320" cy="548280"/>
          </a:xfrm>
          <a:prstGeom prst="roundRect">
            <a:avLst>
              <a:gd name="adj" fmla="val 13333"/>
            </a:avLst>
          </a:prstGeom>
          <a:solidFill>
            <a:srgbClr val="E36F6F">
              <a:alpha val="50196"/>
            </a:srgbClr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 rot="1029029">
            <a:off x="5276481" y="3370640"/>
            <a:ext cx="1865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20" b="1" dirty="0">
                <a:solidFill>
                  <a:srgbClr val="111827"/>
                </a:solidFill>
                <a:latin typeface="Arial"/>
              </a:rPr>
              <a:t>более старые, чем </a:t>
            </a:r>
            <a:r>
              <a:rPr lang="en-US" sz="1220" b="1" dirty="0">
                <a:solidFill>
                  <a:srgbClr val="111827"/>
                </a:solidFill>
                <a:latin typeface="Arial"/>
              </a:rPr>
              <a:t>N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сообщения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2"/>
          <p:cNvSpPr/>
          <p:nvPr/>
        </p:nvSpPr>
        <p:spPr>
          <a:xfrm>
            <a:off x="7356420" y="2757960"/>
            <a:ext cx="1371240" cy="54828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3"/>
          <p:cNvSpPr/>
          <p:nvPr/>
        </p:nvSpPr>
        <p:spPr>
          <a:xfrm>
            <a:off x="7429500" y="2812680"/>
            <a:ext cx="1225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новый input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8956620" y="3032280"/>
            <a:ext cx="68580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5"/>
          <p:cNvSpPr/>
          <p:nvPr/>
        </p:nvSpPr>
        <p:spPr>
          <a:xfrm>
            <a:off x="9733860" y="2757960"/>
            <a:ext cx="1096920" cy="5482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9806940" y="2812680"/>
            <a:ext cx="9507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LLM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970280" y="4074373"/>
            <a:ext cx="10515240" cy="215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Default trigger: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около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50%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контекста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Сохраняются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недавние сообщения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;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середина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суммаризируется</a:t>
            </a:r>
            <a:r>
              <a:rPr lang="ru-RU" sz="1600" dirty="0">
                <a:solidFill>
                  <a:srgbClr val="111827"/>
                </a:solidFill>
                <a:latin typeface="Arial"/>
                <a:ea typeface="Arial"/>
              </a:rPr>
              <a:t>, старое отбрасывается.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Старые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длинные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tool results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защищённого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«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хвоста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»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могут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заменяться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на 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placeholder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перед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сжатием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Session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остаётся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богаче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active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9">
            <a:extLst>
              <a:ext uri="{FF2B5EF4-FFF2-40B4-BE49-F238E27FC236}">
                <a16:creationId xmlns:a16="http://schemas.microsoft.com/office/drawing/2014/main" id="{873D89F8-94E4-4F2B-844B-EC94CBA2C465}"/>
              </a:ext>
            </a:extLst>
          </p:cNvPr>
          <p:cNvSpPr/>
          <p:nvPr/>
        </p:nvSpPr>
        <p:spPr>
          <a:xfrm>
            <a:off x="10213920" y="361412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Что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живёт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дольше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одной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сессии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11/25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Память, skills и profiles — разные механизмы долговременного состояния.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822960" y="2103660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896040" y="2158380"/>
            <a:ext cx="1682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profile: coder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8"/>
          <p:cNvSpPr/>
          <p:nvPr/>
        </p:nvSpPr>
        <p:spPr>
          <a:xfrm>
            <a:off x="1005840" y="2789460"/>
            <a:ext cx="1371240" cy="3654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1078920" y="284418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SOUL.md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1005840" y="3246660"/>
            <a:ext cx="1371240" cy="3654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1078920" y="330138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USER.md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1005840" y="3757500"/>
            <a:ext cx="1371240" cy="3654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1078920" y="381222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MEMORY.md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4"/>
          <p:cNvSpPr/>
          <p:nvPr/>
        </p:nvSpPr>
        <p:spPr>
          <a:xfrm>
            <a:off x="1005840" y="4278607"/>
            <a:ext cx="1371240" cy="3654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1078920" y="4333327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AGENTS.md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8403840" y="2199330"/>
            <a:ext cx="141696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8476920" y="2254050"/>
            <a:ext cx="1270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skill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8403840" y="2885130"/>
            <a:ext cx="1416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“</a:t>
            </a:r>
            <a:r>
              <a:rPr lang="en-US" sz="12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как</a:t>
            </a: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2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делать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code review”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9"/>
          <p:cNvSpPr/>
          <p:nvPr/>
        </p:nvSpPr>
        <p:spPr>
          <a:xfrm>
            <a:off x="10168200" y="2199593"/>
            <a:ext cx="141696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0"/>
          <p:cNvSpPr/>
          <p:nvPr/>
        </p:nvSpPr>
        <p:spPr>
          <a:xfrm>
            <a:off x="10241280" y="2254313"/>
            <a:ext cx="1270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memory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1"/>
          <p:cNvSpPr/>
          <p:nvPr/>
        </p:nvSpPr>
        <p:spPr>
          <a:xfrm>
            <a:off x="10168200" y="2885393"/>
            <a:ext cx="1416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“что помнить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о проекте”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5"/>
          <p:cNvSpPr/>
          <p:nvPr/>
        </p:nvSpPr>
        <p:spPr>
          <a:xfrm>
            <a:off x="818460" y="5415149"/>
            <a:ext cx="10515240" cy="142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Profile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отдельное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состояние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Hermes,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sandbox.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Skills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процедурные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инструкции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; memory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долговременные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факты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D26244-F8BC-47F9-9526-6E8D1FA548EB}"/>
              </a:ext>
            </a:extLst>
          </p:cNvPr>
          <p:cNvSpPr txBox="1"/>
          <p:nvPr/>
        </p:nvSpPr>
        <p:spPr>
          <a:xfrm>
            <a:off x="2636340" y="2775268"/>
            <a:ext cx="5264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личность и стиль агента: кто он, как общается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460737-6DA8-4E58-9734-536901776886}"/>
              </a:ext>
            </a:extLst>
          </p:cNvPr>
          <p:cNvSpPr txBox="1"/>
          <p:nvPr/>
        </p:nvSpPr>
        <p:spPr>
          <a:xfrm>
            <a:off x="2636339" y="3259723"/>
            <a:ext cx="5843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хранит </a:t>
            </a:r>
            <a:r>
              <a:rPr lang="ru-RU" sz="1600" b="1" dirty="0"/>
              <a:t>устойчивые сведения именно о пользователе</a:t>
            </a:r>
            <a:endParaRPr lang="ru-RU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2AF097-539E-4FA9-BC4D-563CEFD9BB8B}"/>
              </a:ext>
            </a:extLst>
          </p:cNvPr>
          <p:cNvSpPr txBox="1"/>
          <p:nvPr/>
        </p:nvSpPr>
        <p:spPr>
          <a:xfrm>
            <a:off x="2651400" y="3648060"/>
            <a:ext cx="5843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хранит </a:t>
            </a:r>
            <a:r>
              <a:rPr lang="ru-RU" sz="1600" b="1" dirty="0"/>
              <a:t>отобранные агентом долговременные знания</a:t>
            </a:r>
            <a:r>
              <a:rPr lang="ru-RU" sz="1600" dirty="0"/>
              <a:t>, которые полезно переносить между сессиями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425849-4D84-4DA2-B30A-C35A0AA0B695}"/>
              </a:ext>
            </a:extLst>
          </p:cNvPr>
          <p:cNvSpPr txBox="1"/>
          <p:nvPr/>
        </p:nvSpPr>
        <p:spPr>
          <a:xfrm>
            <a:off x="2636339" y="4302328"/>
            <a:ext cx="7957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контекст и правила конкретного проекта</a:t>
            </a:r>
            <a:r>
              <a:rPr lang="ru-RU" sz="1600" dirty="0"/>
              <a:t>:</a:t>
            </a:r>
            <a:r>
              <a:rPr lang="en-US" sz="1600" dirty="0"/>
              <a:t> </a:t>
            </a:r>
            <a:r>
              <a:rPr lang="ru-RU" sz="1600" dirty="0"/>
              <a:t>соглашения, ограничения</a:t>
            </a: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A4717307-B0BF-4A71-BB9D-965D8C0C83EB}"/>
              </a:ext>
            </a:extLst>
          </p:cNvPr>
          <p:cNvSpPr/>
          <p:nvPr/>
        </p:nvSpPr>
        <p:spPr>
          <a:xfrm>
            <a:off x="1005840" y="4794374"/>
            <a:ext cx="1572480" cy="36540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1355A958-215F-417C-948C-4EC28DBE25CD}"/>
              </a:ext>
            </a:extLst>
          </p:cNvPr>
          <p:cNvSpPr/>
          <p:nvPr/>
        </p:nvSpPr>
        <p:spPr>
          <a:xfrm>
            <a:off x="1078920" y="4849094"/>
            <a:ext cx="1447534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skills / tools index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BCCE4C-B922-45ED-A730-5F9F0BC6A814}"/>
              </a:ext>
            </a:extLst>
          </p:cNvPr>
          <p:cNvSpPr txBox="1"/>
          <p:nvPr/>
        </p:nvSpPr>
        <p:spPr>
          <a:xfrm>
            <a:off x="2636339" y="4786759"/>
            <a:ext cx="7957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краткое описание доступных </a:t>
            </a:r>
            <a:r>
              <a:rPr lang="en-US" sz="1600" dirty="0"/>
              <a:t>skills, tools</a:t>
            </a:r>
            <a:endParaRPr lang="ru-RU" sz="16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8DDB89C-07B5-44C0-B631-63DB37AF7E39}"/>
              </a:ext>
            </a:extLst>
          </p:cNvPr>
          <p:cNvSpPr/>
          <p:nvPr/>
        </p:nvSpPr>
        <p:spPr>
          <a:xfrm>
            <a:off x="10241280" y="3686969"/>
            <a:ext cx="1270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tool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7EDD6507-E7D5-44C2-B94E-A7B9EDC9988B}"/>
              </a:ext>
            </a:extLst>
          </p:cNvPr>
          <p:cNvSpPr/>
          <p:nvPr/>
        </p:nvSpPr>
        <p:spPr>
          <a:xfrm>
            <a:off x="10168200" y="4318049"/>
            <a:ext cx="1416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“</a:t>
            </a:r>
            <a:r>
              <a:rPr lang="ru-RU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прочитай </a:t>
            </a: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MR </a:t>
            </a:r>
            <a:r>
              <a:rPr lang="ru-RU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через </a:t>
            </a: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GitLab MCP”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Tools, hooks, cron и skills — не одно и то же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12/25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Tool даёт действие; hook реагирует на событие; skill добавляет процедурный контекст; cron запускает задачу по расписанию.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1005840" y="231408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1078920" y="2368800"/>
            <a:ext cx="12250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tool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8"/>
          <p:cNvSpPr/>
          <p:nvPr/>
        </p:nvSpPr>
        <p:spPr>
          <a:xfrm>
            <a:off x="868680" y="2999880"/>
            <a:ext cx="1691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model → действие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read/write/bash/web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9"/>
          <p:cNvSpPr/>
          <p:nvPr/>
        </p:nvSpPr>
        <p:spPr>
          <a:xfrm>
            <a:off x="3200400" y="231408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0"/>
          <p:cNvSpPr/>
          <p:nvPr/>
        </p:nvSpPr>
        <p:spPr>
          <a:xfrm>
            <a:off x="3273480" y="2368800"/>
            <a:ext cx="12250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hook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1"/>
          <p:cNvSpPr/>
          <p:nvPr/>
        </p:nvSpPr>
        <p:spPr>
          <a:xfrm>
            <a:off x="3063240" y="2999880"/>
            <a:ext cx="1691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event → реакция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pre_tool_call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2"/>
          <p:cNvSpPr/>
          <p:nvPr/>
        </p:nvSpPr>
        <p:spPr>
          <a:xfrm>
            <a:off x="5394960" y="231408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5468040" y="2368800"/>
            <a:ext cx="12250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skill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4"/>
          <p:cNvSpPr/>
          <p:nvPr/>
        </p:nvSpPr>
        <p:spPr>
          <a:xfrm>
            <a:off x="5257800" y="2999880"/>
            <a:ext cx="1691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task type →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инструкция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5"/>
          <p:cNvSpPr/>
          <p:nvPr/>
        </p:nvSpPr>
        <p:spPr>
          <a:xfrm>
            <a:off x="7589520" y="2314080"/>
            <a:ext cx="137124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7662600" y="2368800"/>
            <a:ext cx="12250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cron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7452360" y="2999880"/>
            <a:ext cx="16912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schedule →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prompt + skills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8"/>
          <p:cNvSpPr/>
          <p:nvPr/>
        </p:nvSpPr>
        <p:spPr>
          <a:xfrm>
            <a:off x="868680" y="4251960"/>
            <a:ext cx="10423800" cy="224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11827"/>
                </a:solidFill>
                <a:latin typeface="Arial"/>
              </a:rPr>
              <a:t>Hermes</a:t>
            </a:r>
            <a:r>
              <a:rPr lang="ru-RU" sz="1600" b="1" dirty="0">
                <a:solidFill>
                  <a:srgbClr val="111827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111827"/>
                </a:solidFill>
                <a:latin typeface="Arial"/>
              </a:rPr>
              <a:t>skill curator: </a:t>
            </a:r>
            <a:br>
              <a:rPr lang="en-US" sz="1600" b="1" dirty="0">
                <a:solidFill>
                  <a:srgbClr val="111827"/>
                </a:solidFill>
                <a:latin typeface="Arial"/>
              </a:rPr>
            </a:br>
            <a:r>
              <a:rPr lang="ru-RU" sz="1600" b="1" dirty="0">
                <a:solidFill>
                  <a:srgbClr val="111827"/>
                </a:solidFill>
                <a:latin typeface="Arial"/>
              </a:rPr>
              <a:t>создает новый </a:t>
            </a:r>
            <a:r>
              <a:rPr lang="en-US" sz="1600" b="1" dirty="0">
                <a:solidFill>
                  <a:srgbClr val="111827"/>
                </a:solidFill>
                <a:latin typeface="Arial"/>
              </a:rPr>
              <a:t>skill </a:t>
            </a:r>
            <a:r>
              <a:rPr lang="ru-RU" sz="1600" b="1" dirty="0">
                <a:solidFill>
                  <a:srgbClr val="111827"/>
                </a:solidFill>
                <a:latin typeface="Arial"/>
              </a:rPr>
              <a:t>если было </a:t>
            </a:r>
            <a:r>
              <a:rPr lang="en-US" sz="1600" b="1" dirty="0">
                <a:solidFill>
                  <a:srgbClr val="111827"/>
                </a:solidFill>
                <a:latin typeface="Arial"/>
              </a:rPr>
              <a:t>&gt;5 tool calls, </a:t>
            </a:r>
            <a:r>
              <a:rPr lang="ru-RU" sz="1600" b="1" dirty="0">
                <a:solidFill>
                  <a:srgbClr val="111827"/>
                </a:solidFill>
                <a:latin typeface="Arial"/>
              </a:rPr>
              <a:t>перемещает малоиспользуемые </a:t>
            </a:r>
            <a:r>
              <a:rPr lang="en-US" sz="1600" b="1" dirty="0">
                <a:solidFill>
                  <a:srgbClr val="111827"/>
                </a:solidFill>
                <a:latin typeface="Arial"/>
              </a:rPr>
              <a:t>skills </a:t>
            </a:r>
            <a:r>
              <a:rPr lang="ru-RU" sz="1600" b="1" dirty="0">
                <a:solidFill>
                  <a:srgbClr val="111827"/>
                </a:solidFill>
                <a:latin typeface="Arial"/>
              </a:rPr>
              <a:t>в архив</a:t>
            </a:r>
            <a:endParaRPr lang="en-US" sz="1600" b="0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  <a:p>
            <a:pPr defTabSz="914400">
              <a:lnSpc>
                <a:spcPct val="150000"/>
              </a:lnSpc>
            </a:pPr>
            <a:endParaRPr lang="en-US" sz="1600" dirty="0">
              <a:solidFill>
                <a:srgbClr val="111827"/>
              </a:solidFill>
              <a:latin typeface="Arial"/>
              <a:ea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Пример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: skill “company-code-review”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задаёт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порядок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проверки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шаблон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отчёта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Hook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может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запустить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formatter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после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write_file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или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заблокировать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опасный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tool.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Cron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делает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“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каждый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понедельник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дайджест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”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задачей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агентной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среды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а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tool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модели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Модели и провайдеры: роли, а не просто список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13/25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Rich harness выбирает не только main model, но и вспомогательные и резервные модели.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5"/>
          <p:cNvSpPr/>
          <p:nvPr/>
        </p:nvSpPr>
        <p:spPr>
          <a:xfrm>
            <a:off x="914400" y="2240640"/>
            <a:ext cx="1645560" cy="54828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6"/>
          <p:cNvSpPr/>
          <p:nvPr/>
        </p:nvSpPr>
        <p:spPr>
          <a:xfrm>
            <a:off x="987480" y="2295360"/>
            <a:ext cx="1499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main model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3657600" y="2240640"/>
            <a:ext cx="1645560" cy="5482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3730680" y="2295360"/>
            <a:ext cx="1499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auxiliary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6400800" y="2240640"/>
            <a:ext cx="1645560" cy="54828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6473880" y="2295360"/>
            <a:ext cx="1499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fallback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9144000" y="2240640"/>
            <a:ext cx="1645560" cy="5482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9217080" y="2295360"/>
            <a:ext cx="1499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provider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3"/>
          <p:cNvSpPr/>
          <p:nvPr/>
        </p:nvSpPr>
        <p:spPr>
          <a:xfrm>
            <a:off x="868680" y="29721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основной agent loop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3520440" y="2972159"/>
            <a:ext cx="1919880" cy="739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compaction / vision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web extraction / approval /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>
                <a:solidFill>
                  <a:srgbClr val="4B5563"/>
                </a:solidFill>
                <a:latin typeface="Arial"/>
              </a:rPr>
              <a:t>title generation / skill hub / skill curator / MCP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5"/>
          <p:cNvSpPr/>
          <p:nvPr/>
        </p:nvSpPr>
        <p:spPr>
          <a:xfrm>
            <a:off x="6309360" y="2972160"/>
            <a:ext cx="182844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150" dirty="0">
                <a:solidFill>
                  <a:srgbClr val="4B5563"/>
                </a:solidFill>
                <a:latin typeface="Arial"/>
              </a:rPr>
              <a:t>На какую модель переключиться, если основная недоступна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8961120" y="2972159"/>
            <a:ext cx="2011320" cy="31561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Nous portal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>
                <a:solidFill>
                  <a:srgbClr val="4B5563"/>
                </a:solidFill>
                <a:latin typeface="Arial"/>
              </a:rPr>
              <a:t>Fireworks API</a:t>
            </a:r>
            <a:b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</a:br>
            <a:r>
              <a:rPr lang="en-US" sz="11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OpenAI</a:t>
            </a: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API</a:t>
            </a:r>
            <a:br>
              <a:rPr lang="en-US" sz="1150" dirty="0">
                <a:solidFill>
                  <a:srgbClr val="4B5563"/>
                </a:solidFill>
                <a:latin typeface="Arial"/>
              </a:rPr>
            </a:b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Anthropic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err="1">
                <a:solidFill>
                  <a:srgbClr val="4B5563"/>
                </a:solidFill>
                <a:latin typeface="Arial"/>
              </a:rPr>
              <a:t>DeepSeek</a:t>
            </a:r>
            <a:endParaRPr lang="en-US" sz="1150" dirty="0">
              <a:solidFill>
                <a:srgbClr val="4B5563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MiniMax</a:t>
            </a:r>
            <a:endParaRPr lang="en-US" sz="1150" b="0" u="none" strike="noStrike" dirty="0">
              <a:solidFill>
                <a:srgbClr val="4B5563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err="1">
                <a:solidFill>
                  <a:srgbClr val="4B5563"/>
                </a:solidFill>
                <a:latin typeface="Arial"/>
              </a:rPr>
              <a:t>OpenCode</a:t>
            </a:r>
            <a:endParaRPr lang="en-US" sz="1150" dirty="0">
              <a:solidFill>
                <a:srgbClr val="4B5563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Alibaba Cloud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>
                <a:solidFill>
                  <a:srgbClr val="4B5563"/>
                </a:solidFill>
                <a:latin typeface="Arial"/>
              </a:rPr>
              <a:t>Google AI</a:t>
            </a:r>
            <a:br>
              <a:rPr lang="en-US" sz="1150" dirty="0">
                <a:solidFill>
                  <a:srgbClr val="4B5563"/>
                </a:solidFill>
                <a:latin typeface="Arial"/>
              </a:rPr>
            </a:br>
            <a:r>
              <a:rPr lang="en-US" sz="1150" dirty="0">
                <a:solidFill>
                  <a:srgbClr val="4B5563"/>
                </a:solidFill>
                <a:latin typeface="Arial"/>
              </a:rPr>
              <a:t>Hugging face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Kimi (Moonshot)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>
                <a:solidFill>
                  <a:srgbClr val="000000"/>
                </a:solidFill>
                <a:latin typeface="Arial"/>
              </a:rPr>
              <a:t>Kimi Coding plan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Z.AI </a:t>
            </a:r>
            <a:b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</a:br>
            <a:r>
              <a:rPr lang="en-US" sz="11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OpenRouter</a:t>
            </a:r>
            <a:endParaRPr lang="en-US" sz="1150" b="0" u="none" strike="noStrike" dirty="0">
              <a:solidFill>
                <a:srgbClr val="4B5563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err="1">
                <a:solidFill>
                  <a:srgbClr val="4B5563"/>
                </a:solidFill>
                <a:latin typeface="Arial"/>
              </a:rPr>
              <a:t>Qwen</a:t>
            </a:r>
            <a:r>
              <a:rPr lang="en-US" sz="1150" dirty="0">
                <a:solidFill>
                  <a:srgbClr val="4B5563"/>
                </a:solidFill>
                <a:latin typeface="Arial"/>
              </a:rPr>
              <a:t> Cloud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err="1">
                <a:solidFill>
                  <a:srgbClr val="4B5563"/>
                </a:solidFill>
                <a:latin typeface="Arial"/>
              </a:rPr>
              <a:t>Ollama</a:t>
            </a:r>
            <a:r>
              <a:rPr lang="en-US" sz="1150" dirty="0">
                <a:solidFill>
                  <a:srgbClr val="4B5563"/>
                </a:solidFill>
                <a:latin typeface="Arial"/>
              </a:rPr>
              <a:t> Cloud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LM Studio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868680" y="4160520"/>
            <a:ext cx="10515240" cy="170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Возможность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менять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провайдера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отдельный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модуль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harness.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Вертикальные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решения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выигрывают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native model + native runtime.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делает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ставку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настраиваемость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широкий выбор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и fallbacks.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Model orchestration: Hermes MoA vs Fugu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14/25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Модели можно оркестрировать вручную в harness или отдать orchestration провайдеру.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822960" y="2156460"/>
            <a:ext cx="1828440" cy="4752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896040" y="221118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Hermes MoA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868680" y="2933700"/>
            <a:ext cx="1096920" cy="347040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941760" y="2988420"/>
            <a:ext cx="950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model A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2148840" y="2933700"/>
            <a:ext cx="1096920" cy="347040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2221920" y="2988420"/>
            <a:ext cx="950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model B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3429000" y="2933700"/>
            <a:ext cx="1096920" cy="347040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3502080" y="2988420"/>
            <a:ext cx="950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model C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1737180" y="3785940"/>
            <a:ext cx="19198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6"/>
          <p:cNvSpPr/>
          <p:nvPr/>
        </p:nvSpPr>
        <p:spPr>
          <a:xfrm>
            <a:off x="1810260" y="3840840"/>
            <a:ext cx="17737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aggregator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model </a:t>
            </a:r>
            <a:r>
              <a:rPr lang="en-US" sz="1220" b="1" dirty="0">
                <a:solidFill>
                  <a:srgbClr val="111827"/>
                </a:solidFill>
                <a:latin typeface="Arial"/>
              </a:rPr>
              <a:t>D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6584040" y="3840840"/>
            <a:ext cx="1828440" cy="47520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8"/>
          <p:cNvSpPr/>
          <p:nvPr/>
        </p:nvSpPr>
        <p:spPr>
          <a:xfrm>
            <a:off x="6657120" y="3895560"/>
            <a:ext cx="1682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Sakana Fugu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6721200" y="4618080"/>
            <a:ext cx="1371240" cy="383760"/>
          </a:xfrm>
          <a:prstGeom prst="roundRect">
            <a:avLst>
              <a:gd name="adj" fmla="val 19048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6794280" y="4672800"/>
            <a:ext cx="1225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single API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8184240" y="4809960"/>
            <a:ext cx="731520" cy="3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2"/>
          <p:cNvSpPr/>
          <p:nvPr/>
        </p:nvSpPr>
        <p:spPr>
          <a:xfrm>
            <a:off x="9007200" y="4526640"/>
            <a:ext cx="1919880" cy="59400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3"/>
          <p:cNvSpPr/>
          <p:nvPr/>
        </p:nvSpPr>
        <p:spPr>
          <a:xfrm>
            <a:off x="9080280" y="4581360"/>
            <a:ext cx="17737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provider-managed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model swarm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4"/>
          <p:cNvSpPr/>
          <p:nvPr/>
        </p:nvSpPr>
        <p:spPr>
          <a:xfrm>
            <a:off x="868680" y="5120639"/>
            <a:ext cx="10515240" cy="13473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Hermes: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вы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проектируете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preset.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Fugu: endpoint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сам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динамически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оркестрирует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модели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Ограничение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: Fugu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доступен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EU/EEA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0C7D85FB-3B8C-4B94-A380-774601D5F1E0}"/>
              </a:ext>
            </a:extLst>
          </p:cNvPr>
          <p:cNvSpPr/>
          <p:nvPr/>
        </p:nvSpPr>
        <p:spPr>
          <a:xfrm>
            <a:off x="6510960" y="2152499"/>
            <a:ext cx="2404800" cy="4752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9AB577A-2ACB-474D-AF0D-AC797CCBFB51}"/>
              </a:ext>
            </a:extLst>
          </p:cNvPr>
          <p:cNvSpPr/>
          <p:nvPr/>
        </p:nvSpPr>
        <p:spPr>
          <a:xfrm>
            <a:off x="6584040" y="2207219"/>
            <a:ext cx="2212568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Hermes </a:t>
            </a:r>
            <a:r>
              <a:rPr lang="en-US" sz="122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delegate_task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8B61DAEB-20D3-4BD8-9128-FC0D9FEC7BDE}"/>
              </a:ext>
            </a:extLst>
          </p:cNvPr>
          <p:cNvCxnSpPr>
            <a:stCxn id="309" idx="2"/>
            <a:endCxn id="311" idx="0"/>
          </p:cNvCxnSpPr>
          <p:nvPr/>
        </p:nvCxnSpPr>
        <p:spPr>
          <a:xfrm flipH="1">
            <a:off x="1417140" y="2631660"/>
            <a:ext cx="320040" cy="302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A98A2652-3FCF-4B67-A1B4-23919DD4F81D}"/>
              </a:ext>
            </a:extLst>
          </p:cNvPr>
          <p:cNvCxnSpPr>
            <a:stCxn id="309" idx="2"/>
            <a:endCxn id="313" idx="0"/>
          </p:cNvCxnSpPr>
          <p:nvPr/>
        </p:nvCxnSpPr>
        <p:spPr>
          <a:xfrm>
            <a:off x="1737180" y="2631660"/>
            <a:ext cx="960120" cy="302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08885CA3-2B6B-4533-8B42-398545113F8E}"/>
              </a:ext>
            </a:extLst>
          </p:cNvPr>
          <p:cNvCxnSpPr>
            <a:stCxn id="309" idx="2"/>
            <a:endCxn id="315" idx="0"/>
          </p:cNvCxnSpPr>
          <p:nvPr/>
        </p:nvCxnSpPr>
        <p:spPr>
          <a:xfrm>
            <a:off x="1737180" y="2631660"/>
            <a:ext cx="2240280" cy="302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8674633-BD0F-4DAE-98E7-E445B23D2392}"/>
              </a:ext>
            </a:extLst>
          </p:cNvPr>
          <p:cNvCxnSpPr>
            <a:stCxn id="311" idx="2"/>
            <a:endCxn id="318" idx="0"/>
          </p:cNvCxnSpPr>
          <p:nvPr/>
        </p:nvCxnSpPr>
        <p:spPr>
          <a:xfrm>
            <a:off x="1417140" y="3280740"/>
            <a:ext cx="1279980" cy="505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EB023E2-DCC3-45E8-BADE-5DEFF9858F75}"/>
              </a:ext>
            </a:extLst>
          </p:cNvPr>
          <p:cNvCxnSpPr>
            <a:stCxn id="313" idx="2"/>
            <a:endCxn id="318" idx="0"/>
          </p:cNvCxnSpPr>
          <p:nvPr/>
        </p:nvCxnSpPr>
        <p:spPr>
          <a:xfrm flipH="1">
            <a:off x="2697120" y="3280740"/>
            <a:ext cx="180" cy="505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465C7DD-5E58-4D8B-ACD4-4CB59D805B09}"/>
              </a:ext>
            </a:extLst>
          </p:cNvPr>
          <p:cNvCxnSpPr>
            <a:stCxn id="315" idx="2"/>
            <a:endCxn id="318" idx="0"/>
          </p:cNvCxnSpPr>
          <p:nvPr/>
        </p:nvCxnSpPr>
        <p:spPr>
          <a:xfrm flipH="1">
            <a:off x="2697120" y="3280740"/>
            <a:ext cx="1280340" cy="505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hape 8">
            <a:extLst>
              <a:ext uri="{FF2B5EF4-FFF2-40B4-BE49-F238E27FC236}">
                <a16:creationId xmlns:a16="http://schemas.microsoft.com/office/drawing/2014/main" id="{AE9E998D-0F50-436B-829A-CD0A3F357379}"/>
              </a:ext>
            </a:extLst>
          </p:cNvPr>
          <p:cNvSpPr/>
          <p:nvPr/>
        </p:nvSpPr>
        <p:spPr>
          <a:xfrm>
            <a:off x="9736620" y="2240310"/>
            <a:ext cx="1593960" cy="347040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B19AF673-C741-4F0B-B0B5-4CD3E97AE8DC}"/>
              </a:ext>
            </a:extLst>
          </p:cNvPr>
          <p:cNvSpPr/>
          <p:nvPr/>
        </p:nvSpPr>
        <p:spPr>
          <a:xfrm>
            <a:off x="9876628" y="2301420"/>
            <a:ext cx="1381571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Agent: model A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F9506639-9A21-497E-A1F3-E729880F718B}"/>
              </a:ext>
            </a:extLst>
          </p:cNvPr>
          <p:cNvSpPr/>
          <p:nvPr/>
        </p:nvSpPr>
        <p:spPr>
          <a:xfrm>
            <a:off x="7406754" y="2885049"/>
            <a:ext cx="1919880" cy="347040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463C5138-CF35-4777-93C3-F8B9C1A885CA}"/>
              </a:ext>
            </a:extLst>
          </p:cNvPr>
          <p:cNvSpPr/>
          <p:nvPr/>
        </p:nvSpPr>
        <p:spPr>
          <a:xfrm>
            <a:off x="7406754" y="2946159"/>
            <a:ext cx="1847499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subagent: model B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1153C3D1-4874-4810-AD94-E917D27A0EDA}"/>
              </a:ext>
            </a:extLst>
          </p:cNvPr>
          <p:cNvSpPr/>
          <p:nvPr/>
        </p:nvSpPr>
        <p:spPr>
          <a:xfrm>
            <a:off x="9648967" y="2885049"/>
            <a:ext cx="2004238" cy="347040"/>
          </a:xfrm>
          <a:prstGeom prst="roundRect">
            <a:avLst>
              <a:gd name="adj" fmla="val 2105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A6114D93-43EE-4A8C-B103-5F54A55232BD}"/>
              </a:ext>
            </a:extLst>
          </p:cNvPr>
          <p:cNvSpPr/>
          <p:nvPr/>
        </p:nvSpPr>
        <p:spPr>
          <a:xfrm>
            <a:off x="9736621" y="2946159"/>
            <a:ext cx="1844204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subagent: model B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1486DFF-4146-46ED-8290-2A234A7FAF93}"/>
              </a:ext>
            </a:extLst>
          </p:cNvPr>
          <p:cNvCxnSpPr>
            <a:cxnSpLocks/>
            <a:stCxn id="41" idx="2"/>
            <a:endCxn id="43" idx="0"/>
          </p:cNvCxnSpPr>
          <p:nvPr/>
        </p:nvCxnSpPr>
        <p:spPr>
          <a:xfrm flipH="1">
            <a:off x="8366694" y="2587350"/>
            <a:ext cx="2166906" cy="2976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FDA9087-E46F-45ED-8B39-8DF98C0E68B0}"/>
              </a:ext>
            </a:extLst>
          </p:cNvPr>
          <p:cNvCxnSpPr>
            <a:stCxn id="41" idx="2"/>
            <a:endCxn id="45" idx="0"/>
          </p:cNvCxnSpPr>
          <p:nvPr/>
        </p:nvCxnSpPr>
        <p:spPr>
          <a:xfrm>
            <a:off x="10533600" y="2587350"/>
            <a:ext cx="117486" cy="29769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9AE314-BC4F-4C4A-BC9E-8B4FF9ECDC5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11" t="8704" r="9578" b="10391"/>
          <a:stretch/>
        </p:blipFill>
        <p:spPr>
          <a:xfrm>
            <a:off x="9304761" y="5222859"/>
            <a:ext cx="1375814" cy="13639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Subagents: разветвление и сборка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16/25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Subagent — ещё один agent loop с отдельным контекстом; это не обязательно sandbox, worktree или VM.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6"/>
          <p:cNvSpPr/>
          <p:nvPr/>
        </p:nvSpPr>
        <p:spPr>
          <a:xfrm>
            <a:off x="4983480" y="1828800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7"/>
          <p:cNvSpPr/>
          <p:nvPr/>
        </p:nvSpPr>
        <p:spPr>
          <a:xfrm>
            <a:off x="5056560" y="1883520"/>
            <a:ext cx="1682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parent agent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8"/>
          <p:cNvSpPr/>
          <p:nvPr/>
        </p:nvSpPr>
        <p:spPr>
          <a:xfrm flipH="1">
            <a:off x="2743200" y="2423160"/>
            <a:ext cx="3154680" cy="8229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9"/>
          <p:cNvSpPr/>
          <p:nvPr/>
        </p:nvSpPr>
        <p:spPr>
          <a:xfrm>
            <a:off x="5897880" y="2423160"/>
            <a:ext cx="360" cy="8229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0"/>
          <p:cNvSpPr/>
          <p:nvPr/>
        </p:nvSpPr>
        <p:spPr>
          <a:xfrm>
            <a:off x="5897880" y="2423160"/>
            <a:ext cx="3154680" cy="8229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1828800" y="336492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2"/>
          <p:cNvSpPr/>
          <p:nvPr/>
        </p:nvSpPr>
        <p:spPr>
          <a:xfrm>
            <a:off x="1901880" y="34200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subagent 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research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3"/>
          <p:cNvSpPr/>
          <p:nvPr/>
        </p:nvSpPr>
        <p:spPr>
          <a:xfrm>
            <a:off x="5029200" y="336492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4"/>
          <p:cNvSpPr/>
          <p:nvPr/>
        </p:nvSpPr>
        <p:spPr>
          <a:xfrm>
            <a:off x="5102280" y="34200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subagent B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tests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5"/>
          <p:cNvSpPr/>
          <p:nvPr/>
        </p:nvSpPr>
        <p:spPr>
          <a:xfrm>
            <a:off x="8229600" y="336492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6"/>
          <p:cNvSpPr/>
          <p:nvPr/>
        </p:nvSpPr>
        <p:spPr>
          <a:xfrm>
            <a:off x="8302680" y="3420000"/>
            <a:ext cx="1590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subagent C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review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7"/>
          <p:cNvSpPr/>
          <p:nvPr/>
        </p:nvSpPr>
        <p:spPr>
          <a:xfrm>
            <a:off x="2743200" y="3977640"/>
            <a:ext cx="3154680" cy="640080"/>
          </a:xfrm>
          <a:prstGeom prst="line">
            <a:avLst/>
          </a:prstGeom>
          <a:ln w="12700">
            <a:solidFill>
              <a:srgbClr val="0596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8"/>
          <p:cNvSpPr/>
          <p:nvPr/>
        </p:nvSpPr>
        <p:spPr>
          <a:xfrm>
            <a:off x="5897880" y="3977640"/>
            <a:ext cx="360" cy="640080"/>
          </a:xfrm>
          <a:prstGeom prst="line">
            <a:avLst/>
          </a:prstGeom>
          <a:ln w="12700">
            <a:solidFill>
              <a:srgbClr val="0596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9"/>
          <p:cNvSpPr/>
          <p:nvPr/>
        </p:nvSpPr>
        <p:spPr>
          <a:xfrm flipH="1">
            <a:off x="5897880" y="3977640"/>
            <a:ext cx="3154680" cy="640080"/>
          </a:xfrm>
          <a:prstGeom prst="line">
            <a:avLst/>
          </a:prstGeom>
          <a:ln w="12700">
            <a:solidFill>
              <a:srgbClr val="0596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0"/>
          <p:cNvSpPr/>
          <p:nvPr/>
        </p:nvSpPr>
        <p:spPr>
          <a:xfrm>
            <a:off x="4800600" y="4727520"/>
            <a:ext cx="2194200" cy="5482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1"/>
          <p:cNvSpPr/>
          <p:nvPr/>
        </p:nvSpPr>
        <p:spPr>
          <a:xfrm>
            <a:off x="4873680" y="4782240"/>
            <a:ext cx="20480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summaries only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→ parent context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2"/>
          <p:cNvSpPr/>
          <p:nvPr/>
        </p:nvSpPr>
        <p:spPr>
          <a:xfrm>
            <a:off x="822960" y="583380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Ценность</a:t>
            </a: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: </a:t>
            </a:r>
            <a:r>
              <a:rPr lang="en-US" sz="16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параллелизм</a:t>
            </a: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+ </a:t>
            </a:r>
            <a:r>
              <a:rPr lang="en-US" sz="16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специализация</a:t>
            </a: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+ semantic compaction </a:t>
            </a:r>
            <a:r>
              <a:rPr lang="en-US" sz="16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для</a:t>
            </a: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parent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Agent Teams: общее состояние и сообщения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17/25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Следующий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уровень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—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агенты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видят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общую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работу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и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могут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обмениваться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сообщениями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,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чтобы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9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не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ru-RU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повторять одну работу дважды</a:t>
            </a:r>
            <a:r>
              <a:rPr lang="en-US" sz="19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6"/>
          <p:cNvSpPr/>
          <p:nvPr/>
        </p:nvSpPr>
        <p:spPr>
          <a:xfrm>
            <a:off x="4800600" y="2057400"/>
            <a:ext cx="237708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"/>
          <p:cNvSpPr/>
          <p:nvPr/>
        </p:nvSpPr>
        <p:spPr>
          <a:xfrm>
            <a:off x="4873680" y="2112120"/>
            <a:ext cx="22309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Lead / Coordinator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8"/>
          <p:cNvSpPr/>
          <p:nvPr/>
        </p:nvSpPr>
        <p:spPr>
          <a:xfrm>
            <a:off x="5989320" y="2651760"/>
            <a:ext cx="360" cy="50292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9"/>
          <p:cNvSpPr/>
          <p:nvPr/>
        </p:nvSpPr>
        <p:spPr>
          <a:xfrm>
            <a:off x="4572000" y="327348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0"/>
          <p:cNvSpPr/>
          <p:nvPr/>
        </p:nvSpPr>
        <p:spPr>
          <a:xfrm>
            <a:off x="4645080" y="3328560"/>
            <a:ext cx="26881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общее состояние задач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1"/>
          <p:cNvSpPr/>
          <p:nvPr/>
        </p:nvSpPr>
        <p:spPr>
          <a:xfrm>
            <a:off x="2011680" y="416052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2084760" y="4215240"/>
            <a:ext cx="1225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A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3"/>
          <p:cNvSpPr/>
          <p:nvPr/>
        </p:nvSpPr>
        <p:spPr>
          <a:xfrm>
            <a:off x="5120640" y="416052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4"/>
          <p:cNvSpPr/>
          <p:nvPr/>
        </p:nvSpPr>
        <p:spPr>
          <a:xfrm>
            <a:off x="5193720" y="4215240"/>
            <a:ext cx="1225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B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5"/>
          <p:cNvSpPr/>
          <p:nvPr/>
        </p:nvSpPr>
        <p:spPr>
          <a:xfrm>
            <a:off x="8229600" y="4160520"/>
            <a:ext cx="1371240" cy="456840"/>
          </a:xfrm>
          <a:prstGeom prst="round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6"/>
          <p:cNvSpPr/>
          <p:nvPr/>
        </p:nvSpPr>
        <p:spPr>
          <a:xfrm>
            <a:off x="8302680" y="4215240"/>
            <a:ext cx="1225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C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7"/>
          <p:cNvSpPr/>
          <p:nvPr/>
        </p:nvSpPr>
        <p:spPr>
          <a:xfrm>
            <a:off x="3383280" y="4389120"/>
            <a:ext cx="1691640" cy="3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8"/>
          <p:cNvSpPr/>
          <p:nvPr/>
        </p:nvSpPr>
        <p:spPr>
          <a:xfrm>
            <a:off x="6492240" y="4389120"/>
            <a:ext cx="1691640" cy="3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9"/>
          <p:cNvSpPr/>
          <p:nvPr/>
        </p:nvSpPr>
        <p:spPr>
          <a:xfrm flipH="1">
            <a:off x="3383280" y="4663440"/>
            <a:ext cx="4846320" cy="3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0"/>
          <p:cNvSpPr/>
          <p:nvPr/>
        </p:nvSpPr>
        <p:spPr>
          <a:xfrm>
            <a:off x="822960" y="5440680"/>
            <a:ext cx="10606680" cy="102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Claude Code Agent Teams: shared task list + teammate messaging.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Cline Agent Teams: persistent task board + inter-agent mailbox + mission log.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Kanban: общая доска и сохраняемое состояние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18/25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Hermes docs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Kanban нужен не только для параллелизма: он выносит состояние задач из головы parent agent.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6"/>
          <p:cNvSpPr/>
          <p:nvPr/>
        </p:nvSpPr>
        <p:spPr>
          <a:xfrm>
            <a:off x="749880" y="2565360"/>
            <a:ext cx="1828440" cy="199260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7"/>
          <p:cNvSpPr/>
          <p:nvPr/>
        </p:nvSpPr>
        <p:spPr>
          <a:xfrm>
            <a:off x="822960" y="2620080"/>
            <a:ext cx="1682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task card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9"/>
          <p:cNvSpPr/>
          <p:nvPr/>
        </p:nvSpPr>
        <p:spPr>
          <a:xfrm>
            <a:off x="2670120" y="3388320"/>
            <a:ext cx="960120" cy="3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0"/>
          <p:cNvSpPr/>
          <p:nvPr/>
        </p:nvSpPr>
        <p:spPr>
          <a:xfrm>
            <a:off x="3721680" y="2840474"/>
            <a:ext cx="1828440" cy="1227526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1"/>
          <p:cNvSpPr/>
          <p:nvPr/>
        </p:nvSpPr>
        <p:spPr>
          <a:xfrm>
            <a:off x="3794760" y="2895194"/>
            <a:ext cx="1682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worker profile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2"/>
          <p:cNvSpPr/>
          <p:nvPr/>
        </p:nvSpPr>
        <p:spPr>
          <a:xfrm>
            <a:off x="5687640" y="3388320"/>
            <a:ext cx="960120" cy="3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3"/>
          <p:cNvSpPr/>
          <p:nvPr/>
        </p:nvSpPr>
        <p:spPr>
          <a:xfrm>
            <a:off x="6739200" y="3068280"/>
            <a:ext cx="2011320" cy="59400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4"/>
          <p:cNvSpPr/>
          <p:nvPr/>
        </p:nvSpPr>
        <p:spPr>
          <a:xfrm>
            <a:off x="6812280" y="3123000"/>
            <a:ext cx="186516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blackboard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comments / handoff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5"/>
          <p:cNvSpPr/>
          <p:nvPr/>
        </p:nvSpPr>
        <p:spPr>
          <a:xfrm>
            <a:off x="8888040" y="3388320"/>
            <a:ext cx="960120" cy="3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6"/>
          <p:cNvSpPr/>
          <p:nvPr/>
        </p:nvSpPr>
        <p:spPr>
          <a:xfrm>
            <a:off x="9939600" y="3114000"/>
            <a:ext cx="164556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7"/>
          <p:cNvSpPr/>
          <p:nvPr/>
        </p:nvSpPr>
        <p:spPr>
          <a:xfrm>
            <a:off x="10012680" y="3168720"/>
            <a:ext cx="14994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review / synthesize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8"/>
          <p:cNvSpPr/>
          <p:nvPr/>
        </p:nvSpPr>
        <p:spPr>
          <a:xfrm>
            <a:off x="822960" y="4881960"/>
            <a:ext cx="10606680" cy="162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Process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может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умереть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parent agent -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остановиться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карточка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остаётся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Комментарии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становятся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общим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blackboard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для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исполнителей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Профили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позволяют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разделять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память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/skills/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модели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являются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sandbox.</a:t>
            </a:r>
          </a:p>
          <a:p>
            <a:pPr defTabSz="914400">
              <a:lnSpc>
                <a:spcPct val="150000"/>
              </a:lnSpc>
            </a:pPr>
            <a:r>
              <a:rPr lang="en-US" sz="1600" dirty="0" err="1">
                <a:solidFill>
                  <a:srgbClr val="111827"/>
                </a:solidFill>
                <a:latin typeface="Arial"/>
              </a:rPr>
              <a:t>Multica</a:t>
            </a:r>
            <a:r>
              <a:rPr lang="en-US" sz="1600" dirty="0">
                <a:solidFill>
                  <a:srgbClr val="111827"/>
                </a:solidFill>
                <a:latin typeface="Arial"/>
              </a:rPr>
              <a:t> </a:t>
            </a:r>
            <a:r>
              <a:rPr lang="ru-RU" sz="1600" dirty="0">
                <a:solidFill>
                  <a:srgbClr val="111827"/>
                </a:solidFill>
                <a:latin typeface="Arial"/>
              </a:rPr>
              <a:t>предоставляет аналогичный более гибкий </a:t>
            </a:r>
            <a:r>
              <a:rPr lang="en-US" sz="1600" dirty="0">
                <a:solidFill>
                  <a:srgbClr val="111827"/>
                </a:solidFill>
                <a:latin typeface="Arial"/>
              </a:rPr>
              <a:t>Kanban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7F2D1E-7E83-455B-A30E-A4D93765AE2B}"/>
              </a:ext>
            </a:extLst>
          </p:cNvPr>
          <p:cNvSpPr txBox="1"/>
          <p:nvPr/>
        </p:nvSpPr>
        <p:spPr>
          <a:xfrm>
            <a:off x="822960" y="3067560"/>
            <a:ext cx="169053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status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assignee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dependencies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comments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heartbeat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retry</a:t>
            </a:r>
          </a:p>
          <a:p>
            <a:endParaRPr lang="ru-RU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275F2EE-9918-486C-9ABD-D4CD4E161464}"/>
              </a:ext>
            </a:extLst>
          </p:cNvPr>
          <p:cNvSpPr/>
          <p:nvPr/>
        </p:nvSpPr>
        <p:spPr>
          <a:xfrm>
            <a:off x="3794760" y="3283274"/>
            <a:ext cx="1682280" cy="694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40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профиль </a:t>
            </a:r>
            <a:r>
              <a:rPr lang="en-US" sz="140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Hermes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</a:rPr>
              <a:t>model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</a:rPr>
              <a:t>provider</a:t>
            </a:r>
            <a:endParaRPr lang="en-US" sz="140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4D728C9-99FD-4F9E-90CB-8F0460ADF4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980" t="14661" r="14738" b="14260"/>
          <a:stretch/>
        </p:blipFill>
        <p:spPr>
          <a:xfrm>
            <a:off x="9633568" y="4144393"/>
            <a:ext cx="2257623" cy="2283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648050-43E1-4C8F-9C08-A6B425AD5826}"/>
              </a:ext>
            </a:extLst>
          </p:cNvPr>
          <p:cNvSpPr txBox="1"/>
          <p:nvPr/>
        </p:nvSpPr>
        <p:spPr>
          <a:xfrm>
            <a:off x="10349520" y="6340993"/>
            <a:ext cx="2039040" cy="38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Multica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01B995-6BDE-4BFE-8EC1-7AC1AB281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" y="0"/>
            <a:ext cx="10376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2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Изоляция: типичные конфигурации, август 2026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19/25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Versioned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“Отдельный subagent” не говорит, что изолированы файлы, процесс или машина.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6"/>
          <p:cNvSpPr/>
          <p:nvPr/>
        </p:nvSpPr>
        <p:spPr>
          <a:xfrm>
            <a:off x="731520" y="2057400"/>
            <a:ext cx="132552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804600" y="2112120"/>
            <a:ext cx="1179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2148840" y="2276640"/>
            <a:ext cx="457200" cy="360"/>
          </a:xfrm>
          <a:prstGeom prst="line">
            <a:avLst/>
          </a:prstGeom>
          <a:ln w="1143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9"/>
          <p:cNvSpPr/>
          <p:nvPr/>
        </p:nvSpPr>
        <p:spPr>
          <a:xfrm>
            <a:off x="2697480" y="2057400"/>
            <a:ext cx="1691280" cy="43848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2770560" y="2112120"/>
            <a:ext cx="15451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session / process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1"/>
          <p:cNvSpPr/>
          <p:nvPr/>
        </p:nvSpPr>
        <p:spPr>
          <a:xfrm>
            <a:off x="4480560" y="2276640"/>
            <a:ext cx="457200" cy="360"/>
          </a:xfrm>
          <a:prstGeom prst="line">
            <a:avLst/>
          </a:prstGeom>
          <a:ln w="1143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2"/>
          <p:cNvSpPr/>
          <p:nvPr/>
        </p:nvSpPr>
        <p:spPr>
          <a:xfrm>
            <a:off x="5029200" y="2057400"/>
            <a:ext cx="1325520" cy="43848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3"/>
          <p:cNvSpPr/>
          <p:nvPr/>
        </p:nvSpPr>
        <p:spPr>
          <a:xfrm>
            <a:off x="5102280" y="2112120"/>
            <a:ext cx="1179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worktree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4"/>
          <p:cNvSpPr/>
          <p:nvPr/>
        </p:nvSpPr>
        <p:spPr>
          <a:xfrm>
            <a:off x="6446520" y="2276640"/>
            <a:ext cx="457200" cy="360"/>
          </a:xfrm>
          <a:prstGeom prst="line">
            <a:avLst/>
          </a:prstGeom>
          <a:ln w="1143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5"/>
          <p:cNvSpPr/>
          <p:nvPr/>
        </p:nvSpPr>
        <p:spPr>
          <a:xfrm>
            <a:off x="6995160" y="2057400"/>
            <a:ext cx="1325520" cy="43848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7068240" y="2112120"/>
            <a:ext cx="11793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sandbox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7"/>
          <p:cNvSpPr/>
          <p:nvPr/>
        </p:nvSpPr>
        <p:spPr>
          <a:xfrm>
            <a:off x="8412480" y="2276640"/>
            <a:ext cx="457200" cy="360"/>
          </a:xfrm>
          <a:prstGeom prst="line">
            <a:avLst/>
          </a:prstGeom>
          <a:ln w="1143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8"/>
          <p:cNvSpPr/>
          <p:nvPr/>
        </p:nvSpPr>
        <p:spPr>
          <a:xfrm>
            <a:off x="8961120" y="2057400"/>
            <a:ext cx="1416960" cy="43848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9"/>
          <p:cNvSpPr/>
          <p:nvPr/>
        </p:nvSpPr>
        <p:spPr>
          <a:xfrm>
            <a:off x="9034200" y="2112120"/>
            <a:ext cx="1270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container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0"/>
          <p:cNvSpPr/>
          <p:nvPr/>
        </p:nvSpPr>
        <p:spPr>
          <a:xfrm>
            <a:off x="10469880" y="2276640"/>
            <a:ext cx="457200" cy="360"/>
          </a:xfrm>
          <a:prstGeom prst="line">
            <a:avLst/>
          </a:prstGeom>
          <a:ln w="1143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1"/>
          <p:cNvSpPr/>
          <p:nvPr/>
        </p:nvSpPr>
        <p:spPr>
          <a:xfrm>
            <a:off x="11018520" y="2057400"/>
            <a:ext cx="594000" cy="438480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2"/>
          <p:cNvSpPr/>
          <p:nvPr/>
        </p:nvSpPr>
        <p:spPr>
          <a:xfrm>
            <a:off x="11091600" y="2112120"/>
            <a:ext cx="447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VM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3"/>
          <p:cNvSpPr/>
          <p:nvPr/>
        </p:nvSpPr>
        <p:spPr>
          <a:xfrm>
            <a:off x="731520" y="3246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context isolation ≠ worktree ≠ sandbox ≠ container/VM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4"/>
          <p:cNvSpPr/>
          <p:nvPr/>
        </p:nvSpPr>
        <p:spPr>
          <a:xfrm>
            <a:off x="731520" y="4077720"/>
            <a:ext cx="10515240" cy="167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Codex/Claude: OS sandbox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зависит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режима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конфигурации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Docker backend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означает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container-per-subagent.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Devin Managed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Devins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пример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сильной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VM-isolation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для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дочерних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исполнителей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11E9040-815F-4CBF-A55E-70D655FBE21B}"/>
              </a:ext>
            </a:extLst>
          </p:cNvPr>
          <p:cNvGrpSpPr/>
          <p:nvPr/>
        </p:nvGrpSpPr>
        <p:grpSpPr>
          <a:xfrm>
            <a:off x="9649799" y="3246120"/>
            <a:ext cx="2097362" cy="2301301"/>
            <a:chOff x="9538177" y="3246120"/>
            <a:chExt cx="2097362" cy="2301301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25A6A438-A0AE-4BF9-A76A-1B21EC93B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38177" y="3246120"/>
              <a:ext cx="2097362" cy="209736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5A3C9E-5E61-43AF-9A7C-1D88D7526E5A}"/>
                </a:ext>
              </a:extLst>
            </p:cNvPr>
            <p:cNvSpPr txBox="1"/>
            <p:nvPr/>
          </p:nvSpPr>
          <p:spPr>
            <a:xfrm>
              <a:off x="9647863" y="5178089"/>
              <a:ext cx="17714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Devin swarm</a:t>
              </a:r>
              <a:endParaRPr lang="ru-RU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Checkpoint и recovery — четыре разных уровня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20/25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Откат разговора, откат файлов и восстановление задачи — разные механизмы.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6"/>
          <p:cNvSpPr/>
          <p:nvPr/>
        </p:nvSpPr>
        <p:spPr>
          <a:xfrm>
            <a:off x="2082851" y="2332080"/>
            <a:ext cx="2093715" cy="75323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7"/>
          <p:cNvSpPr/>
          <p:nvPr/>
        </p:nvSpPr>
        <p:spPr>
          <a:xfrm>
            <a:off x="2155931" y="2386799"/>
            <a:ext cx="1934321" cy="613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conversation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rewind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8"/>
          <p:cNvSpPr/>
          <p:nvPr/>
        </p:nvSpPr>
        <p:spPr>
          <a:xfrm>
            <a:off x="4506011" y="2332080"/>
            <a:ext cx="2093715" cy="75323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9"/>
          <p:cNvSpPr/>
          <p:nvPr/>
        </p:nvSpPr>
        <p:spPr>
          <a:xfrm>
            <a:off x="4579091" y="2386799"/>
            <a:ext cx="1934321" cy="613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workspace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checkpoint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0"/>
          <p:cNvSpPr/>
          <p:nvPr/>
        </p:nvSpPr>
        <p:spPr>
          <a:xfrm>
            <a:off x="6929171" y="2332080"/>
            <a:ext cx="2093715" cy="75323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1"/>
          <p:cNvSpPr/>
          <p:nvPr/>
        </p:nvSpPr>
        <p:spPr>
          <a:xfrm>
            <a:off x="7002251" y="2386799"/>
            <a:ext cx="1934321" cy="613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task state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Kanban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4"/>
          <p:cNvSpPr/>
          <p:nvPr/>
        </p:nvSpPr>
        <p:spPr>
          <a:xfrm>
            <a:off x="2082851" y="3155039"/>
            <a:ext cx="2093715" cy="347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рассуждение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5"/>
          <p:cNvSpPr/>
          <p:nvPr/>
        </p:nvSpPr>
        <p:spPr>
          <a:xfrm>
            <a:off x="4506011" y="3155039"/>
            <a:ext cx="2093715" cy="347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файлы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6"/>
          <p:cNvSpPr/>
          <p:nvPr/>
        </p:nvSpPr>
        <p:spPr>
          <a:xfrm>
            <a:off x="6929171" y="3155039"/>
            <a:ext cx="2093715" cy="347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B5563"/>
                </a:solidFill>
                <a:effectLst/>
                <a:uFillTx/>
                <a:latin typeface="Arial"/>
              </a:rPr>
              <a:t>что ещё делать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8"/>
          <p:cNvSpPr/>
          <p:nvPr/>
        </p:nvSpPr>
        <p:spPr>
          <a:xfrm>
            <a:off x="822960" y="4251959"/>
            <a:ext cx="10515240" cy="1643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checkpoint: shadow-Git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для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рабочего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дерева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Kanban: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сохраняемое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состояние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задач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retry и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переназначение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Одна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команда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/resume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заменяет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все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уровни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восстановления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Ralph loop: /goal поверх agent loop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21/25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Hermes docs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Обычный agent loop завершает сама модель; /goal добавляет внешнего judge, который проверяет “цель достигнута?”.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6"/>
          <p:cNvSpPr/>
          <p:nvPr/>
        </p:nvSpPr>
        <p:spPr>
          <a:xfrm>
            <a:off x="868680" y="2277180"/>
            <a:ext cx="11426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7"/>
          <p:cNvSpPr/>
          <p:nvPr/>
        </p:nvSpPr>
        <p:spPr>
          <a:xfrm>
            <a:off x="941760" y="2331900"/>
            <a:ext cx="9964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goal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8"/>
          <p:cNvSpPr/>
          <p:nvPr/>
        </p:nvSpPr>
        <p:spPr>
          <a:xfrm>
            <a:off x="2148840" y="2523780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9"/>
          <p:cNvSpPr/>
          <p:nvPr/>
        </p:nvSpPr>
        <p:spPr>
          <a:xfrm>
            <a:off x="2880360" y="2277180"/>
            <a:ext cx="164556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0"/>
          <p:cNvSpPr/>
          <p:nvPr/>
        </p:nvSpPr>
        <p:spPr>
          <a:xfrm>
            <a:off x="2953440" y="2331900"/>
            <a:ext cx="14994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loop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1"/>
          <p:cNvSpPr/>
          <p:nvPr/>
        </p:nvSpPr>
        <p:spPr>
          <a:xfrm>
            <a:off x="4663440" y="2523780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2"/>
          <p:cNvSpPr/>
          <p:nvPr/>
        </p:nvSpPr>
        <p:spPr>
          <a:xfrm>
            <a:off x="5394960" y="2277180"/>
            <a:ext cx="127980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3"/>
          <p:cNvSpPr/>
          <p:nvPr/>
        </p:nvSpPr>
        <p:spPr>
          <a:xfrm>
            <a:off x="5468040" y="2331900"/>
            <a:ext cx="11336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result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4"/>
          <p:cNvSpPr/>
          <p:nvPr/>
        </p:nvSpPr>
        <p:spPr>
          <a:xfrm>
            <a:off x="6812280" y="2523780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5"/>
          <p:cNvSpPr/>
          <p:nvPr/>
        </p:nvSpPr>
        <p:spPr>
          <a:xfrm>
            <a:off x="7543800" y="2277180"/>
            <a:ext cx="164556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6"/>
          <p:cNvSpPr/>
          <p:nvPr/>
        </p:nvSpPr>
        <p:spPr>
          <a:xfrm>
            <a:off x="7616880" y="2331900"/>
            <a:ext cx="14994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judge model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7"/>
          <p:cNvSpPr/>
          <p:nvPr/>
        </p:nvSpPr>
        <p:spPr>
          <a:xfrm flipH="1">
            <a:off x="4572000" y="2825820"/>
            <a:ext cx="3794760" cy="12801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8"/>
          <p:cNvSpPr/>
          <p:nvPr/>
        </p:nvSpPr>
        <p:spPr>
          <a:xfrm>
            <a:off x="3657600" y="4105980"/>
            <a:ext cx="150840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9"/>
          <p:cNvSpPr/>
          <p:nvPr/>
        </p:nvSpPr>
        <p:spPr>
          <a:xfrm>
            <a:off x="3730680" y="4160700"/>
            <a:ext cx="13622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continue?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0"/>
          <p:cNvSpPr/>
          <p:nvPr/>
        </p:nvSpPr>
        <p:spPr>
          <a:xfrm>
            <a:off x="5212080" y="4352580"/>
            <a:ext cx="914400" cy="360"/>
          </a:xfrm>
          <a:prstGeom prst="line">
            <a:avLst/>
          </a:prstGeom>
          <a:ln w="12700">
            <a:solidFill>
              <a:srgbClr val="0596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1"/>
          <p:cNvSpPr/>
          <p:nvPr/>
        </p:nvSpPr>
        <p:spPr>
          <a:xfrm>
            <a:off x="6217920" y="4105980"/>
            <a:ext cx="109692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2"/>
          <p:cNvSpPr/>
          <p:nvPr/>
        </p:nvSpPr>
        <p:spPr>
          <a:xfrm>
            <a:off x="6291000" y="4160700"/>
            <a:ext cx="9507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done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3"/>
          <p:cNvSpPr/>
          <p:nvPr/>
        </p:nvSpPr>
        <p:spPr>
          <a:xfrm>
            <a:off x="868680" y="5166360"/>
            <a:ext cx="10423800" cy="14838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Default budget: 20 continuation turns;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затем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pause/resume.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Kanban worker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тоже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может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работать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в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goal_mode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Это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внешний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completion controller, а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просто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“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модель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решила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остановиться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”.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C94DA7-999A-4F5C-9F2E-5BF724FAD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59" y="0"/>
            <a:ext cx="1112108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718794-E175-40B1-971B-8CF0C6A1299D}"/>
              </a:ext>
            </a:extLst>
          </p:cNvPr>
          <p:cNvSpPr txBox="1"/>
          <p:nvPr/>
        </p:nvSpPr>
        <p:spPr>
          <a:xfrm>
            <a:off x="866963" y="416401"/>
            <a:ext cx="10458071" cy="646331"/>
          </a:xfrm>
          <a:prstGeom prst="rect">
            <a:avLst/>
          </a:prstGeom>
          <a:solidFill>
            <a:srgbClr val="08090B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Ouroboros – meta-loop </a:t>
            </a:r>
            <a:r>
              <a:rPr lang="ru-RU" sz="3600" dirty="0">
                <a:solidFill>
                  <a:schemeClr val="bg1"/>
                </a:solidFill>
              </a:rPr>
              <a:t>по улучшению агента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D60B32-8E0D-42E5-83EC-19268C9D67B6}"/>
              </a:ext>
            </a:extLst>
          </p:cNvPr>
          <p:cNvSpPr/>
          <p:nvPr/>
        </p:nvSpPr>
        <p:spPr>
          <a:xfrm>
            <a:off x="920456" y="211947"/>
            <a:ext cx="1550241" cy="211947"/>
          </a:xfrm>
          <a:prstGeom prst="rect">
            <a:avLst/>
          </a:prstGeom>
          <a:solidFill>
            <a:srgbClr val="0808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736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Meta loop и Ouroboros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22/25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Sources in notes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Kanban увеличивает масштаб orchestration; Ouroboros увеличивает глубину того, что агенту разрешено менять.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6"/>
          <p:cNvSpPr/>
          <p:nvPr/>
        </p:nvSpPr>
        <p:spPr>
          <a:xfrm>
            <a:off x="868680" y="2258640"/>
            <a:ext cx="146268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7"/>
          <p:cNvSpPr/>
          <p:nvPr/>
        </p:nvSpPr>
        <p:spPr>
          <a:xfrm>
            <a:off x="941760" y="2313360"/>
            <a:ext cx="13165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agent works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8"/>
          <p:cNvSpPr/>
          <p:nvPr/>
        </p:nvSpPr>
        <p:spPr>
          <a:xfrm>
            <a:off x="2423160" y="2505240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9"/>
          <p:cNvSpPr/>
          <p:nvPr/>
        </p:nvSpPr>
        <p:spPr>
          <a:xfrm>
            <a:off x="3154680" y="2258640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3227760" y="2313360"/>
            <a:ext cx="1682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trajectory / failures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1"/>
          <p:cNvSpPr/>
          <p:nvPr/>
        </p:nvSpPr>
        <p:spPr>
          <a:xfrm>
            <a:off x="5074920" y="2505240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2"/>
          <p:cNvSpPr/>
          <p:nvPr/>
        </p:nvSpPr>
        <p:spPr>
          <a:xfrm>
            <a:off x="5806440" y="2258640"/>
            <a:ext cx="173700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3"/>
          <p:cNvSpPr/>
          <p:nvPr/>
        </p:nvSpPr>
        <p:spPr>
          <a:xfrm>
            <a:off x="5879520" y="2313360"/>
            <a:ext cx="15908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meta evaluator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7635240" y="2505240"/>
            <a:ext cx="640080" cy="36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5"/>
          <p:cNvSpPr/>
          <p:nvPr/>
        </p:nvSpPr>
        <p:spPr>
          <a:xfrm>
            <a:off x="8366760" y="2212920"/>
            <a:ext cx="2559960" cy="59400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6"/>
          <p:cNvSpPr/>
          <p:nvPr/>
        </p:nvSpPr>
        <p:spPr>
          <a:xfrm>
            <a:off x="8439840" y="2267640"/>
            <a:ext cx="24138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change skill / prompt / harness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7"/>
          <p:cNvSpPr/>
          <p:nvPr/>
        </p:nvSpPr>
        <p:spPr>
          <a:xfrm flipH="1">
            <a:off x="1554480" y="2898720"/>
            <a:ext cx="8092440" cy="1645920"/>
          </a:xfrm>
          <a:prstGeom prst="line">
            <a:avLst/>
          </a:prstGeom>
          <a:ln w="12700">
            <a:solidFill>
              <a:srgbClr val="D9770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8"/>
          <p:cNvSpPr/>
          <p:nvPr/>
        </p:nvSpPr>
        <p:spPr>
          <a:xfrm>
            <a:off x="868680" y="4407480"/>
            <a:ext cx="164556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9"/>
          <p:cNvSpPr/>
          <p:nvPr/>
        </p:nvSpPr>
        <p:spPr>
          <a:xfrm>
            <a:off x="941760" y="4462200"/>
            <a:ext cx="14994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evaluate again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0"/>
          <p:cNvSpPr/>
          <p:nvPr/>
        </p:nvSpPr>
        <p:spPr>
          <a:xfrm>
            <a:off x="2606040" y="4663440"/>
            <a:ext cx="640080" cy="360"/>
          </a:xfrm>
          <a:prstGeom prst="line">
            <a:avLst/>
          </a:prstGeom>
          <a:ln w="12700">
            <a:solidFill>
              <a:srgbClr val="05966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1"/>
          <p:cNvSpPr/>
          <p:nvPr/>
        </p:nvSpPr>
        <p:spPr>
          <a:xfrm>
            <a:off x="3337560" y="4407480"/>
            <a:ext cx="164556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3410640" y="4462200"/>
            <a:ext cx="14994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accept / rollback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23"/>
          <p:cNvSpPr/>
          <p:nvPr/>
        </p:nvSpPr>
        <p:spPr>
          <a:xfrm>
            <a:off x="868680" y="5349240"/>
            <a:ext cx="10515240" cy="150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today: skills + curator + self-evolution project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для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skills/prompts/tools.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Ouroboros: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более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буквальная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идея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самоизменяющегося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harness.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Три траектории миграции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23/25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4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Переход к harness зависит от того, что уже используется сейчас.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5"/>
          <p:cNvSpPr/>
          <p:nvPr/>
        </p:nvSpPr>
        <p:spPr>
          <a:xfrm>
            <a:off x="822960" y="1920240"/>
            <a:ext cx="201132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"/>
          <p:cNvSpPr/>
          <p:nvPr/>
        </p:nvSpPr>
        <p:spPr>
          <a:xfrm>
            <a:off x="896040" y="1974960"/>
            <a:ext cx="18651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Autocomplete only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7"/>
          <p:cNvSpPr/>
          <p:nvPr/>
        </p:nvSpPr>
        <p:spPr>
          <a:xfrm>
            <a:off x="2926080" y="2176200"/>
            <a:ext cx="640080" cy="3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8"/>
          <p:cNvSpPr/>
          <p:nvPr/>
        </p:nvSpPr>
        <p:spPr>
          <a:xfrm>
            <a:off x="3657600" y="1920240"/>
            <a:ext cx="255996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9"/>
          <p:cNvSpPr/>
          <p:nvPr/>
        </p:nvSpPr>
        <p:spPr>
          <a:xfrm>
            <a:off x="3730680" y="1974960"/>
            <a:ext cx="2413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Codex / Claude / Cursor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0"/>
          <p:cNvSpPr/>
          <p:nvPr/>
        </p:nvSpPr>
        <p:spPr>
          <a:xfrm>
            <a:off x="6309360" y="2176200"/>
            <a:ext cx="640080" cy="360"/>
          </a:xfrm>
          <a:prstGeom prst="line">
            <a:avLst/>
          </a:prstGeom>
          <a:ln w="12700">
            <a:solidFill>
              <a:srgbClr val="2563E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1"/>
          <p:cNvSpPr/>
          <p:nvPr/>
        </p:nvSpPr>
        <p:spPr>
          <a:xfrm>
            <a:off x="7040880" y="192024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2"/>
          <p:cNvSpPr/>
          <p:nvPr/>
        </p:nvSpPr>
        <p:spPr>
          <a:xfrm>
            <a:off x="7113960" y="1974960"/>
            <a:ext cx="26881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human designs; agents implement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3"/>
          <p:cNvSpPr/>
          <p:nvPr/>
        </p:nvSpPr>
        <p:spPr>
          <a:xfrm>
            <a:off x="822960" y="3291840"/>
            <a:ext cx="201132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4"/>
          <p:cNvSpPr/>
          <p:nvPr/>
        </p:nvSpPr>
        <p:spPr>
          <a:xfrm>
            <a:off x="896040" y="3346560"/>
            <a:ext cx="18651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Proprietary harness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5"/>
          <p:cNvSpPr/>
          <p:nvPr/>
        </p:nvSpPr>
        <p:spPr>
          <a:xfrm>
            <a:off x="2926080" y="3547800"/>
            <a:ext cx="640080" cy="3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6"/>
          <p:cNvSpPr/>
          <p:nvPr/>
        </p:nvSpPr>
        <p:spPr>
          <a:xfrm>
            <a:off x="3657600" y="3291840"/>
            <a:ext cx="2559960" cy="50256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7"/>
          <p:cNvSpPr/>
          <p:nvPr/>
        </p:nvSpPr>
        <p:spPr>
          <a:xfrm>
            <a:off x="3730680" y="3346560"/>
            <a:ext cx="2413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Hermes / OpenClaw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8"/>
          <p:cNvSpPr/>
          <p:nvPr/>
        </p:nvSpPr>
        <p:spPr>
          <a:xfrm>
            <a:off x="6309360" y="3547800"/>
            <a:ext cx="640080" cy="360"/>
          </a:xfrm>
          <a:prstGeom prst="line">
            <a:avLst/>
          </a:prstGeom>
          <a:ln w="12700">
            <a:solidFill>
              <a:srgbClr val="7C3AE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9"/>
          <p:cNvSpPr/>
          <p:nvPr/>
        </p:nvSpPr>
        <p:spPr>
          <a:xfrm>
            <a:off x="7040880" y="329184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0"/>
          <p:cNvSpPr/>
          <p:nvPr/>
        </p:nvSpPr>
        <p:spPr>
          <a:xfrm>
            <a:off x="7113960" y="3346560"/>
            <a:ext cx="26881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модели, profiles, gateway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1"/>
          <p:cNvSpPr/>
          <p:nvPr/>
        </p:nvSpPr>
        <p:spPr>
          <a:xfrm>
            <a:off x="822960" y="4663440"/>
            <a:ext cx="2011320" cy="502560"/>
          </a:xfrm>
          <a:prstGeom prst="roundRect">
            <a:avLst>
              <a:gd name="adj" fmla="val 14545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2"/>
          <p:cNvSpPr/>
          <p:nvPr/>
        </p:nvSpPr>
        <p:spPr>
          <a:xfrm>
            <a:off x="896040" y="4718160"/>
            <a:ext cx="186516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Need 24/7 assistant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3"/>
          <p:cNvSpPr/>
          <p:nvPr/>
        </p:nvSpPr>
        <p:spPr>
          <a:xfrm>
            <a:off x="2926080" y="4919400"/>
            <a:ext cx="640080" cy="360"/>
          </a:xfrm>
          <a:prstGeom prst="line">
            <a:avLst/>
          </a:prstGeom>
          <a:ln w="12700">
            <a:solidFill>
              <a:srgbClr val="D9770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24"/>
          <p:cNvSpPr/>
          <p:nvPr/>
        </p:nvSpPr>
        <p:spPr>
          <a:xfrm>
            <a:off x="3657600" y="4663440"/>
            <a:ext cx="2559960" cy="50256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5"/>
          <p:cNvSpPr/>
          <p:nvPr/>
        </p:nvSpPr>
        <p:spPr>
          <a:xfrm>
            <a:off x="3730680" y="4718160"/>
            <a:ext cx="24138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VPS + gateway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6"/>
          <p:cNvSpPr/>
          <p:nvPr/>
        </p:nvSpPr>
        <p:spPr>
          <a:xfrm>
            <a:off x="6309360" y="4919400"/>
            <a:ext cx="640080" cy="360"/>
          </a:xfrm>
          <a:prstGeom prst="line">
            <a:avLst/>
          </a:prstGeom>
          <a:ln w="12700">
            <a:solidFill>
              <a:srgbClr val="D97706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7"/>
          <p:cNvSpPr/>
          <p:nvPr/>
        </p:nvSpPr>
        <p:spPr>
          <a:xfrm>
            <a:off x="7040880" y="4663440"/>
            <a:ext cx="2834280" cy="502560"/>
          </a:xfrm>
          <a:prstGeom prst="roundRect">
            <a:avLst>
              <a:gd name="adj" fmla="val 1454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8"/>
          <p:cNvSpPr/>
          <p:nvPr/>
        </p:nvSpPr>
        <p:spPr>
          <a:xfrm>
            <a:off x="7113960" y="4718160"/>
            <a:ext cx="268812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Telegram / Slack / cron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/>
          <p:nvPr/>
        </p:nvSpPr>
        <p:spPr>
          <a:xfrm>
            <a:off x="570120" y="287458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1"/>
          <p:cNvSpPr/>
          <p:nvPr/>
        </p:nvSpPr>
        <p:spPr>
          <a:xfrm>
            <a:off x="564240" y="510059"/>
            <a:ext cx="11063880" cy="10603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Когда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применять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Hermes</a:t>
            </a:r>
            <a:b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</a:br>
            <a:r>
              <a:rPr lang="ru-RU" sz="160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или другие </a:t>
            </a:r>
            <a:r>
              <a:rPr lang="en-US" sz="160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harness-</a:t>
            </a:r>
            <a:r>
              <a:rPr lang="ru-RU" sz="160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аналоги</a:t>
            </a:r>
            <a:endParaRPr lang="en-US" sz="2550" i="1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Arial"/>
              <a:ea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"/>
          <p:cNvSpPr/>
          <p:nvPr/>
        </p:nvSpPr>
        <p:spPr>
          <a:xfrm>
            <a:off x="563880" y="127008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3"/>
          <p:cNvSpPr/>
          <p:nvPr/>
        </p:nvSpPr>
        <p:spPr>
          <a:xfrm>
            <a:off x="11241975" y="6516883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 dirty="0">
                <a:solidFill>
                  <a:srgbClr val="9CA3AF"/>
                </a:solidFill>
                <a:effectLst/>
                <a:uFillTx/>
                <a:latin typeface="Arial"/>
              </a:rPr>
              <a:t>24/25</a:t>
            </a:r>
            <a:endParaRPr lang="en-US" sz="7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5"/>
          <p:cNvSpPr/>
          <p:nvPr/>
        </p:nvSpPr>
        <p:spPr>
          <a:xfrm>
            <a:off x="772920" y="1402784"/>
            <a:ext cx="5303160" cy="45135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 fontScale="92500" lnSpcReduction="10000"/>
          </a:bodyPr>
          <a:lstStyle/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ru-RU" dirty="0" err="1">
                <a:solidFill>
                  <a:srgbClr val="111827"/>
                </a:solidFill>
                <a:latin typeface="Arial"/>
                <a:ea typeface="Arial"/>
              </a:rPr>
              <a:t>Агентный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spec-driven development</a:t>
            </a:r>
            <a:br>
              <a:rPr lang="en-US" dirty="0">
                <a:solidFill>
                  <a:srgbClr val="111827"/>
                </a:solidFill>
                <a:latin typeface="Arial"/>
                <a:ea typeface="Arial"/>
              </a:rPr>
            </a:br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Claude Code, Codex, </a:t>
            </a:r>
            <a:r>
              <a:rPr lang="en-US" sz="15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etc</a:t>
            </a:r>
            <a:endParaRPr lang="ru-RU" sz="1500" b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ru-RU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Нужен свободный выбор </a:t>
            </a: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model provider</a:t>
            </a:r>
            <a:b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</a:br>
            <a:r>
              <a:rPr lang="en-US" sz="1500" b="0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OpenCode</a:t>
            </a:r>
            <a:r>
              <a:rPr lang="en-US" sz="1500" b="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500" b="0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OpenClaw</a:t>
            </a:r>
            <a:r>
              <a:rPr lang="en-US" sz="1500" b="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en-US" sz="1500" b="0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etc</a:t>
            </a:r>
            <a:endParaRPr lang="en-US" sz="1500" b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Нужно несколько рабочих профилей</a:t>
            </a:r>
            <a:endParaRPr lang="en-US" b="0" u="none" strike="noStrike" dirty="0">
              <a:solidFill>
                <a:srgbClr val="111827"/>
              </a:solidFill>
              <a:effectLst/>
              <a:uFillTx/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Управление памятью «из коробки»</a:t>
            </a:r>
            <a:br>
              <a:rPr lang="en-US" dirty="0">
                <a:solidFill>
                  <a:srgbClr val="111827"/>
                </a:solidFill>
                <a:latin typeface="Arial"/>
                <a:ea typeface="Arial"/>
              </a:rPr>
            </a:br>
            <a:r>
              <a:rPr lang="en-US" sz="15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DeerFlow</a:t>
            </a:r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, </a:t>
            </a:r>
            <a:r>
              <a:rPr lang="en-US" sz="15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OpenClaw</a:t>
            </a:r>
            <a:endParaRPr lang="ru-RU" sz="1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Telegram / Slack </a:t>
            </a: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/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Discord gateway</a:t>
            </a:r>
            <a:br>
              <a:rPr lang="en-US" dirty="0">
                <a:solidFill>
                  <a:srgbClr val="111827"/>
                </a:solidFill>
                <a:latin typeface="Arial"/>
                <a:ea typeface="Arial"/>
              </a:rPr>
            </a:br>
            <a:r>
              <a:rPr lang="en-US" sz="15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OpenClaw</a:t>
            </a:r>
            <a:endParaRPr lang="ru-RU" sz="1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ru-RU" dirty="0">
                <a:solidFill>
                  <a:srgbClr val="111827"/>
                </a:solidFill>
                <a:latin typeface="Arial"/>
                <a:ea typeface="Arial"/>
              </a:rPr>
              <a:t>Работа агента 24/7 на </a:t>
            </a: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VPS</a:t>
            </a:r>
            <a:br>
              <a:rPr lang="en-US" dirty="0">
                <a:solidFill>
                  <a:srgbClr val="111827"/>
                </a:solidFill>
                <a:latin typeface="Arial"/>
                <a:ea typeface="Arial"/>
              </a:rPr>
            </a:br>
            <a:r>
              <a:rPr 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OpenClaw</a:t>
            </a: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en-US" dirty="0">
                <a:solidFill>
                  <a:srgbClr val="111827"/>
                </a:solidFill>
                <a:latin typeface="Arial"/>
                <a:ea typeface="Arial"/>
              </a:rPr>
              <a:t>Kanban + human-in-the-loop</a:t>
            </a:r>
            <a:br>
              <a:rPr lang="en-US" dirty="0">
                <a:solidFill>
                  <a:srgbClr val="111827"/>
                </a:solidFill>
                <a:latin typeface="Arial"/>
                <a:ea typeface="Arial"/>
              </a:rPr>
            </a:br>
            <a:r>
              <a:rPr lang="en-US" sz="15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Multica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</a:endParaRPr>
          </a:p>
          <a:p>
            <a:pPr marL="342900" indent="-342900" defTabSz="914400">
              <a:lnSpc>
                <a:spcPct val="120000"/>
              </a:lnSpc>
              <a:spcAft>
                <a:spcPts val="600"/>
              </a:spcAft>
              <a:buAutoNum type="arabicPeriod"/>
            </a:pPr>
            <a: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Agent swarm management</a:t>
            </a:r>
            <a:br>
              <a:rPr lang="en-US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</a:br>
            <a:r>
              <a:rPr lang="en-US" sz="1500" b="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Devin, </a:t>
            </a:r>
            <a:r>
              <a:rPr lang="en-US" sz="1500" b="0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Sakana</a:t>
            </a:r>
            <a:r>
              <a:rPr lang="en-US" sz="1500" b="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Arial"/>
              </a:rPr>
              <a:t> Fugu</a:t>
            </a:r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</a:rPr>
              <a:t>, Claude Code Agent Teams</a:t>
            </a:r>
            <a:endParaRPr lang="ru-RU" b="0" i="1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33" name="Shape 6"/>
          <p:cNvSpPr/>
          <p:nvPr/>
        </p:nvSpPr>
        <p:spPr>
          <a:xfrm>
            <a:off x="6675120" y="1402785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7"/>
          <p:cNvSpPr/>
          <p:nvPr/>
        </p:nvSpPr>
        <p:spPr>
          <a:xfrm>
            <a:off x="6748200" y="1457505"/>
            <a:ext cx="1682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Быстрый</a:t>
            </a: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22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старт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8"/>
          <p:cNvSpPr/>
          <p:nvPr/>
        </p:nvSpPr>
        <p:spPr>
          <a:xfrm>
            <a:off x="6647760" y="3669710"/>
            <a:ext cx="3474360" cy="12384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dirty="0" err="1">
                <a:solidFill>
                  <a:srgbClr val="111827"/>
                </a:solidFill>
                <a:latin typeface="Courier New"/>
                <a:ea typeface="Courier New"/>
              </a:rPr>
              <a:t>h</a:t>
            </a: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ermes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 desktop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hermes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 setup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hermes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 model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hermes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 doctor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hermes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9"/>
          <p:cNvSpPr/>
          <p:nvPr/>
        </p:nvSpPr>
        <p:spPr>
          <a:xfrm>
            <a:off x="6675120" y="5139468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Начинать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с read-only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обзора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репозитория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. Kanban/gateway/unattended —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после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того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,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как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локальный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 loop </a:t>
            </a:r>
            <a:r>
              <a:rPr lang="en-US" sz="1350" b="0" u="none" strike="noStrike" dirty="0" err="1">
                <a:solidFill>
                  <a:srgbClr val="4B5563"/>
                </a:solidFill>
                <a:effectLst/>
                <a:uFillTx/>
                <a:latin typeface="Arial"/>
              </a:rPr>
              <a:t>понятен</a:t>
            </a:r>
            <a:r>
              <a:rPr lang="en-US" sz="1350" b="0" u="none" strike="noStrike" dirty="0">
                <a:solidFill>
                  <a:srgbClr val="4B5563"/>
                </a:solidFill>
                <a:effectLst/>
                <a:uFillTx/>
                <a:latin typeface="Arial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04A9566-7D55-4ACF-9F3C-0AD26A0C27D7}"/>
              </a:ext>
            </a:extLst>
          </p:cNvPr>
          <p:cNvSpPr/>
          <p:nvPr/>
        </p:nvSpPr>
        <p:spPr>
          <a:xfrm>
            <a:off x="6647760" y="1535936"/>
            <a:ext cx="5303160" cy="24470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#Linux, MacOS, Android (</a:t>
            </a: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Termux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)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curl -</a:t>
            </a:r>
            <a:r>
              <a:rPr lang="en-US" sz="1500" b="0" u="none" strike="noStrike" dirty="0" err="1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fsSL</a:t>
            </a:r>
            <a:r>
              <a:rPr lang="en-US" sz="1500" b="0" u="none" strike="noStrike" dirty="0">
                <a:solidFill>
                  <a:srgbClr val="111827"/>
                </a:solidFill>
                <a:effectLst/>
                <a:uFillTx/>
                <a:latin typeface="Courier New"/>
                <a:ea typeface="Courier New"/>
              </a:rPr>
              <a:t> https://hermes-agent.nousresearch.com/install.sh | bash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dirty="0">
                <a:solidFill>
                  <a:srgbClr val="111827"/>
                </a:solidFill>
                <a:latin typeface="Courier New"/>
              </a:rPr>
              <a:t>#Windows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dirty="0">
                <a:solidFill>
                  <a:srgbClr val="111827"/>
                </a:solidFill>
                <a:latin typeface="Courier New"/>
              </a:rPr>
              <a:t>iex (irm https://hermes-agent.nousresearch.com/install.ps1) </a:t>
            </a:r>
            <a:endParaRPr lang="en-US" sz="1500" dirty="0">
              <a:solidFill>
                <a:srgbClr val="111827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Hermes + Codex App-Server Runtime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15/25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"/>
          <p:cNvSpPr/>
          <p:nvPr/>
        </p:nvSpPr>
        <p:spPr>
          <a:xfrm>
            <a:off x="567000" y="6565320"/>
            <a:ext cx="9966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Hermes docs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5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Hermes может заменить не только модель, но и внутреннюю среду coding agent.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6"/>
          <p:cNvSpPr/>
          <p:nvPr/>
        </p:nvSpPr>
        <p:spPr>
          <a:xfrm>
            <a:off x="1577188" y="2396160"/>
            <a:ext cx="2504844" cy="861768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7"/>
          <p:cNvSpPr/>
          <p:nvPr/>
        </p:nvSpPr>
        <p:spPr>
          <a:xfrm>
            <a:off x="1650268" y="2450880"/>
            <a:ext cx="2337992" cy="713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Hermes outer layer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UI · sessions · gateway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4155111" y="2807342"/>
            <a:ext cx="540216" cy="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9"/>
          <p:cNvSpPr/>
          <p:nvPr/>
        </p:nvSpPr>
        <p:spPr>
          <a:xfrm>
            <a:off x="4731867" y="2396160"/>
            <a:ext cx="2713615" cy="861768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0"/>
          <p:cNvSpPr/>
          <p:nvPr/>
        </p:nvSpPr>
        <p:spPr>
          <a:xfrm>
            <a:off x="4804947" y="2450880"/>
            <a:ext cx="2546763" cy="713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Codex app-server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loop · tools · sandbox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1"/>
          <p:cNvSpPr/>
          <p:nvPr/>
        </p:nvSpPr>
        <p:spPr>
          <a:xfrm flipV="1">
            <a:off x="7497866" y="2827044"/>
            <a:ext cx="550867" cy="450"/>
          </a:xfrm>
          <a:prstGeom prst="line">
            <a:avLst/>
          </a:prstGeom>
          <a:ln w="12700">
            <a:solidFill>
              <a:srgbClr val="4B5563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2"/>
          <p:cNvSpPr/>
          <p:nvPr/>
        </p:nvSpPr>
        <p:spPr>
          <a:xfrm>
            <a:off x="8069428" y="2396160"/>
            <a:ext cx="1982916" cy="861768"/>
          </a:xfrm>
          <a:prstGeom prst="roundRect">
            <a:avLst>
              <a:gd name="adj" fmla="val 11429"/>
            </a:avLst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3"/>
          <p:cNvSpPr/>
          <p:nvPr/>
        </p:nvSpPr>
        <p:spPr>
          <a:xfrm>
            <a:off x="8142507" y="2450880"/>
            <a:ext cx="1816063" cy="7138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OpenAI</a:t>
            </a: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model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4"/>
          <p:cNvSpPr/>
          <p:nvPr/>
        </p:nvSpPr>
        <p:spPr>
          <a:xfrm>
            <a:off x="868680" y="3794760"/>
            <a:ext cx="10515240" cy="245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Внутри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Codex-runtime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недоступны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Hermes tools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вроде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`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delegate_task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`, `memory`, `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session_search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`, `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todo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`.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Часть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возможностей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Hermes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остаётся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во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внешнем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слое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;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некоторые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обращения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возможны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через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MCP callback.</a:t>
            </a:r>
          </a:p>
          <a:p>
            <a:pPr defTabSz="914400">
              <a:lnSpc>
                <a:spcPct val="150000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Skill curator, MCP servers, tools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 0"/>
          <p:cNvSpPr/>
          <p:nvPr/>
        </p:nvSpPr>
        <p:spPr>
          <a:xfrm>
            <a:off x="567000" y="25596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 dirty="0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AGENT HARNESS · PI → HERMES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"/>
          <p:cNvSpPr/>
          <p:nvPr/>
        </p:nvSpPr>
        <p:spPr>
          <a:xfrm>
            <a:off x="567000" y="47556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Что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harness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даёт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поверх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обычного</a:t>
            </a:r>
            <a:r>
              <a:rPr lang="en-US" sz="25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550" b="1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агента</a:t>
            </a:r>
            <a:endParaRPr lang="en-US" sz="2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"/>
          <p:cNvSpPr/>
          <p:nvPr/>
        </p:nvSpPr>
        <p:spPr>
          <a:xfrm>
            <a:off x="566640" y="1069560"/>
            <a:ext cx="11064240" cy="360"/>
          </a:xfrm>
          <a:prstGeom prst="line">
            <a:avLst/>
          </a:prstGeom>
          <a:ln w="9525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3"/>
          <p:cNvSpPr/>
          <p:nvPr/>
        </p:nvSpPr>
        <p:spPr>
          <a:xfrm>
            <a:off x="10927080" y="6565320"/>
            <a:ext cx="685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</a:rPr>
              <a:t>25/25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4"/>
          <p:cNvSpPr/>
          <p:nvPr/>
        </p:nvSpPr>
        <p:spPr>
          <a:xfrm>
            <a:off x="567000" y="1234440"/>
            <a:ext cx="110181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Главный вопрос: какие модули встроены в harness, кто ими управляет и что система гарантирует на границах?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5"/>
          <p:cNvSpPr/>
          <p:nvPr/>
        </p:nvSpPr>
        <p:spPr>
          <a:xfrm>
            <a:off x="731520" y="2148840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6"/>
          <p:cNvSpPr/>
          <p:nvPr/>
        </p:nvSpPr>
        <p:spPr>
          <a:xfrm>
            <a:off x="804600" y="2203560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context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management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7"/>
          <p:cNvSpPr/>
          <p:nvPr/>
        </p:nvSpPr>
        <p:spPr>
          <a:xfrm>
            <a:off x="2880360" y="2148840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8"/>
          <p:cNvSpPr/>
          <p:nvPr/>
        </p:nvSpPr>
        <p:spPr>
          <a:xfrm>
            <a:off x="2953440" y="2203560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tools + MCP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skills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9"/>
          <p:cNvSpPr/>
          <p:nvPr/>
        </p:nvSpPr>
        <p:spPr>
          <a:xfrm>
            <a:off x="5029200" y="2148840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0"/>
          <p:cNvSpPr/>
          <p:nvPr/>
        </p:nvSpPr>
        <p:spPr>
          <a:xfrm>
            <a:off x="5102280" y="2203560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state +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recovery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1"/>
          <p:cNvSpPr/>
          <p:nvPr/>
        </p:nvSpPr>
        <p:spPr>
          <a:xfrm>
            <a:off x="7178040" y="2148840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2"/>
          <p:cNvSpPr/>
          <p:nvPr/>
        </p:nvSpPr>
        <p:spPr>
          <a:xfrm>
            <a:off x="7251120" y="2203560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orchestration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3"/>
          <p:cNvSpPr/>
          <p:nvPr/>
        </p:nvSpPr>
        <p:spPr>
          <a:xfrm>
            <a:off x="9326880" y="2148840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4"/>
          <p:cNvSpPr/>
          <p:nvPr/>
        </p:nvSpPr>
        <p:spPr>
          <a:xfrm>
            <a:off x="9399960" y="2203560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interface +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automation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5"/>
          <p:cNvSpPr/>
          <p:nvPr/>
        </p:nvSpPr>
        <p:spPr>
          <a:xfrm>
            <a:off x="804600" y="5180040"/>
            <a:ext cx="106981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Hermes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силён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как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открытая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среда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с profiles, skills,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MoA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, Kanban, checkpoints и gateway.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Codex/Claude/Cursor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сильны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native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model+harness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UX; Devin — VM isolation; </a:t>
            </a:r>
            <a:b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</a:b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Multica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— </a:t>
            </a:r>
            <a:r>
              <a:rPr lang="ru-RU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развитый 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Kanban; Fugu — </a:t>
            </a:r>
            <a:r>
              <a:rPr lang="en-US" sz="1600" b="0" u="none" strike="noStrike" dirty="0" err="1">
                <a:solidFill>
                  <a:srgbClr val="111827"/>
                </a:solidFill>
                <a:effectLst/>
                <a:uFillTx/>
                <a:latin typeface="Arial"/>
              </a:rPr>
              <a:t>провайдерская</a:t>
            </a:r>
            <a:r>
              <a:rPr lang="en-US" sz="1600" b="0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 model orchestration.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E7544450-1362-46AF-BD04-C4A9EDB4929E}"/>
              </a:ext>
            </a:extLst>
          </p:cNvPr>
          <p:cNvSpPr/>
          <p:nvPr/>
        </p:nvSpPr>
        <p:spPr>
          <a:xfrm>
            <a:off x="731520" y="4095899"/>
            <a:ext cx="1645560" cy="748596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2563EB"/>
            </a:solidFill>
            <a:rou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0554035-76F4-4FE9-AA12-24DD2B01DD33}"/>
              </a:ext>
            </a:extLst>
          </p:cNvPr>
          <p:cNvSpPr/>
          <p:nvPr/>
        </p:nvSpPr>
        <p:spPr>
          <a:xfrm>
            <a:off x="804600" y="4150619"/>
            <a:ext cx="1499400" cy="6163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20" b="1" dirty="0" err="1">
                <a:solidFill>
                  <a:srgbClr val="111827"/>
                </a:solidFill>
                <a:latin typeface="Arial"/>
              </a:rPr>
              <a:t>самообновляемая</a:t>
            </a:r>
            <a:r>
              <a:rPr lang="ru-RU" sz="1220" b="1" dirty="0">
                <a:solidFill>
                  <a:srgbClr val="111827"/>
                </a:solidFill>
                <a:latin typeface="Arial"/>
              </a:rPr>
              <a:t> долговременная память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E41BE59-1A8F-4B45-AE22-6F165E7BB09A}"/>
              </a:ext>
            </a:extLst>
          </p:cNvPr>
          <p:cNvSpPr/>
          <p:nvPr/>
        </p:nvSpPr>
        <p:spPr>
          <a:xfrm>
            <a:off x="2880360" y="4095898"/>
            <a:ext cx="1645560" cy="754727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059669"/>
            </a:solidFill>
            <a:rou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C8A8FCB4-E33B-4C65-B053-2EBCA8A73925}"/>
              </a:ext>
            </a:extLst>
          </p:cNvPr>
          <p:cNvSpPr/>
          <p:nvPr/>
        </p:nvSpPr>
        <p:spPr>
          <a:xfrm>
            <a:off x="2953440" y="4150619"/>
            <a:ext cx="149940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сам создает </a:t>
            </a:r>
            <a:r>
              <a:rPr lang="ru-RU" sz="1220" b="1" dirty="0">
                <a:solidFill>
                  <a:srgbClr val="111827"/>
                </a:solidFill>
                <a:latin typeface="Arial"/>
              </a:rPr>
              <a:t>новые </a:t>
            </a: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skills</a:t>
            </a:r>
            <a:r>
              <a:rPr lang="ru-RU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, архивирует старые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93B15A94-0E4B-409B-B413-002D85A72531}"/>
              </a:ext>
            </a:extLst>
          </p:cNvPr>
          <p:cNvSpPr/>
          <p:nvPr/>
        </p:nvSpPr>
        <p:spPr>
          <a:xfrm>
            <a:off x="5029200" y="4095899"/>
            <a:ext cx="1645560" cy="748596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CDD8579-6614-48B5-ABF3-B732A6026F5D}"/>
              </a:ext>
            </a:extLst>
          </p:cNvPr>
          <p:cNvSpPr/>
          <p:nvPr/>
        </p:nvSpPr>
        <p:spPr>
          <a:xfrm>
            <a:off x="5102280" y="4150619"/>
            <a:ext cx="1499400" cy="6163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checkpoints </a:t>
            </a:r>
            <a:br>
              <a:rPr lang="ru-RU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</a:b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+ basic sandbox </a:t>
            </a:r>
            <a:br>
              <a:rPr lang="ru-RU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</a:b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+ hooks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BE227B94-591F-4F5A-AE17-44CCA2389725}"/>
              </a:ext>
            </a:extLst>
          </p:cNvPr>
          <p:cNvSpPr/>
          <p:nvPr/>
        </p:nvSpPr>
        <p:spPr>
          <a:xfrm>
            <a:off x="7178040" y="4095899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7C3AED"/>
            </a:solidFill>
            <a:rou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F4CD08E3-1629-4EE5-B3CF-9C4A31FD65CD}"/>
              </a:ext>
            </a:extLst>
          </p:cNvPr>
          <p:cNvSpPr/>
          <p:nvPr/>
        </p:nvSpPr>
        <p:spPr>
          <a:xfrm>
            <a:off x="7251120" y="4150619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dirty="0">
                <a:solidFill>
                  <a:srgbClr val="111827"/>
                </a:solidFill>
                <a:latin typeface="Arial"/>
              </a:rPr>
              <a:t>Kanban swarm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21E7AC2B-4C7D-444E-8D9B-A0505E74D9F1}"/>
              </a:ext>
            </a:extLst>
          </p:cNvPr>
          <p:cNvSpPr/>
          <p:nvPr/>
        </p:nvSpPr>
        <p:spPr>
          <a:xfrm>
            <a:off x="9326880" y="4095899"/>
            <a:ext cx="1645560" cy="62136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rou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B4A6D4D5-75DA-4C0B-A37B-565B0210142A}"/>
              </a:ext>
            </a:extLst>
          </p:cNvPr>
          <p:cNvSpPr/>
          <p:nvPr/>
        </p:nvSpPr>
        <p:spPr>
          <a:xfrm>
            <a:off x="9399960" y="4150619"/>
            <a:ext cx="14994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 dirty="0">
                <a:solidFill>
                  <a:srgbClr val="111827"/>
                </a:solidFill>
                <a:effectLst/>
                <a:uFillTx/>
                <a:latin typeface="Arial"/>
              </a:rPr>
              <a:t>GUI, TUI, gateway into TG / Slack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FCD106-AA56-406C-A098-AB8139239FF4}"/>
              </a:ext>
            </a:extLst>
          </p:cNvPr>
          <p:cNvSpPr/>
          <p:nvPr/>
        </p:nvSpPr>
        <p:spPr>
          <a:xfrm>
            <a:off x="0" y="3177901"/>
            <a:ext cx="260840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Hermes</a:t>
            </a:r>
            <a:endParaRPr lang="ru-RU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6D3AFC-C5BC-4763-8993-0FB8A304C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243" t="8058" r="8047" b="8470"/>
          <a:stretch/>
        </p:blipFill>
        <p:spPr>
          <a:xfrm>
            <a:off x="6939753" y="1627450"/>
            <a:ext cx="3613264" cy="3603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2E925E-ADE8-41A3-AAA6-70A7B90EF3F7}"/>
              </a:ext>
            </a:extLst>
          </p:cNvPr>
          <p:cNvSpPr txBox="1"/>
          <p:nvPr/>
        </p:nvSpPr>
        <p:spPr>
          <a:xfrm>
            <a:off x="1332240" y="2836380"/>
            <a:ext cx="5365288" cy="8206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/>
              <a:t>Спасибо за внимание!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457B0-F9F8-450C-BCA8-BB2156E063CE}"/>
              </a:ext>
            </a:extLst>
          </p:cNvPr>
          <p:cNvSpPr txBox="1"/>
          <p:nvPr/>
        </p:nvSpPr>
        <p:spPr>
          <a:xfrm>
            <a:off x="6939753" y="5456122"/>
            <a:ext cx="361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Ссылка на </a:t>
            </a:r>
            <a:r>
              <a:rPr lang="en-US" dirty="0"/>
              <a:t>repo </a:t>
            </a:r>
            <a:r>
              <a:rPr lang="ru-RU" dirty="0"/>
              <a:t>с инструкциями</a:t>
            </a:r>
            <a:endParaRPr lang="en-US" dirty="0"/>
          </a:p>
          <a:p>
            <a:pPr algn="ctr"/>
            <a:r>
              <a:rPr lang="ru-RU" dirty="0"/>
              <a:t>и презентацией</a:t>
            </a:r>
          </a:p>
        </p:txBody>
      </p:sp>
    </p:spTree>
    <p:extLst>
      <p:ext uri="{BB962C8B-B14F-4D97-AF65-F5344CB8AC3E}">
        <p14:creationId xmlns:p14="http://schemas.microsoft.com/office/powerpoint/2010/main" val="256672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</TotalTime>
  <Words>3108</Words>
  <Application>Microsoft Office PowerPoint</Application>
  <PresentationFormat>Широкоэкранный</PresentationFormat>
  <Paragraphs>478</Paragraphs>
  <Slides>28</Slides>
  <Notes>24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Courier New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Konstantin Zamansky</dc:creator>
  <cp:lastModifiedBy>Konstantin Zamansky</cp:lastModifiedBy>
  <cp:revision>33</cp:revision>
  <dcterms:modified xsi:type="dcterms:W3CDTF">2026-08-11T13:02:24Z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2026-08-10T21:00:25Z</dcterms:created>
  <dc:creator>OpenAI</dc:creator>
  <dc:description/>
  <dc:language>en-US</dc:language>
  <cp:lastModifiedBy>OpenAI</cp:lastModifiedBy>
  <dcterms:modified xsi:type="dcterms:W3CDTF">2026-08-10T21:00:25Z</dcterms:modified>
  <cp:revision>1</cp:revision>
  <dc:subject>Agent harness architecture</dc:subject>
  <dc:title>Agent harness: от Pi к Hermes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25</vt:r8>
  </property>
  <property fmtid="{D5CDD505-2E9C-101B-9397-08002B2CF9AE}" pid="3" name="PresentationFormat">
    <vt:lpwstr>On-screen Show (16:9)</vt:lpwstr>
  </property>
  <property fmtid="{D5CDD505-2E9C-101B-9397-08002B2CF9AE}" pid="4" name="Slides">
    <vt:r8>25</vt:r8>
  </property>
</Properties>
</file>